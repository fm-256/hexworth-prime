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14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34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99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9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0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7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2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6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32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CC4C8803-C14E-A870-79E0-D8A5F981A5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99" r="10033" b="-2"/>
          <a:stretch/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</a:rPr>
              <a:t>Zero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Chapter 2: Strings &amp; Text Handling</a:t>
            </a:r>
          </a:p>
          <a:p>
            <a:pPr algn="l"/>
            <a:r>
              <a:rPr lang="en-US" sz="1600">
                <a:solidFill>
                  <a:srgbClr val="FFFFFF"/>
                </a:solidFill>
              </a:rPr>
              <a:t>Section 1: What is a String?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29111" y="-262376"/>
            <a:ext cx="5838229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675" y="808056"/>
            <a:ext cx="6285929" cy="1077229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What is a String?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479" y="2052116"/>
            <a:ext cx="4929610" cy="3997828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A string is a sequence of characters enclosed in quotes. It can include letters, numbers, spaces, and symbols.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Used to store text like names, messages, or input.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text = "Hello, world!"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print(text)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9" y="-1"/>
            <a:ext cx="91424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14283E-D7B4-49E9-932E-D7F2A284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A2D5B-EC4E-4C78-8139-F36D2F2D1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946" y="-2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AAACE2-9C9E-468F-8297-EF7B5E55F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809" y="1201723"/>
            <a:ext cx="2350312" cy="4454554"/>
          </a:xfrm>
        </p:spPr>
        <p:txBody>
          <a:bodyPr anchor="ctr">
            <a:normAutofit/>
          </a:bodyPr>
          <a:lstStyle/>
          <a:p>
            <a:r>
              <a:rPr lang="en-US" sz="3100"/>
              <a:t>Single &amp; Double Quotes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0772" y="1201723"/>
            <a:ext cx="3996937" cy="445455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/>
              <a:t>Strings can be defined with either single (' ') or double (" ") quotes in Python.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/>
              <a:t>Useful for avoiding escape characters depending on the text.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/>
              <a:t>msg1 = 'Hello'</a:t>
            </a:r>
          </a:p>
          <a:p>
            <a:pPr>
              <a:lnSpc>
                <a:spcPct val="110000"/>
              </a:lnSpc>
            </a:pPr>
            <a:r>
              <a:rPr lang="en-US" sz="1400"/>
              <a:t>msg2 = "Welcome!"</a:t>
            </a:r>
          </a:p>
          <a:p>
            <a:pPr>
              <a:lnSpc>
                <a:spcPct val="110000"/>
              </a:lnSpc>
            </a:pPr>
            <a:r>
              <a:rPr lang="en-US" sz="1400"/>
              <a:t>print(msg1, msg2)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9" y="-1"/>
            <a:ext cx="91424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14283E-D7B4-49E9-932E-D7F2A284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A2D5B-EC4E-4C78-8139-F36D2F2D1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946" y="-2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AAACE2-9C9E-468F-8297-EF7B5E55F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809" y="1201723"/>
            <a:ext cx="2350312" cy="4454554"/>
          </a:xfrm>
        </p:spPr>
        <p:txBody>
          <a:bodyPr anchor="ctr">
            <a:normAutofit/>
          </a:bodyPr>
          <a:lstStyle/>
          <a:p>
            <a:r>
              <a:rPr lang="en-US" sz="3100"/>
              <a:t>Triple Quotes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4836" y="1201722"/>
            <a:ext cx="5277300" cy="5427677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Triple quotes (''' or """) allow for multi-line strings.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Used for writing multi-line messages or documentation strings (docstrings).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bio = '''This is line one.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This is line two.'''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print(bio)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D695C-62FF-2C23-9963-B600C23BC9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13327" r="11675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Zero to Python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r>
              <a:t>Chapter 2: Strings &amp; Text Handling</a:t>
            </a:r>
          </a:p>
          <a:p>
            <a:r>
              <a:t>Slither Smoothly from Beginner to Pro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29111" y="-262376"/>
            <a:ext cx="5838229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675" y="808056"/>
            <a:ext cx="6285929" cy="1077229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Normal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479" y="2052116"/>
            <a:ext cx="4929610" cy="3997828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/>
              <a:t>Standard text values in Python, enclosed in single or double quotes.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/>
              <a:t>Used to store and display text data such as names, messages, and content.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/>
              <a:t>message = "Hello, Python!"</a:t>
            </a:r>
          </a:p>
          <a:p>
            <a:pPr>
              <a:lnSpc>
                <a:spcPct val="110000"/>
              </a:lnSpc>
            </a:pPr>
            <a:r>
              <a:rPr lang="en-US" sz="1400"/>
              <a:t>print(message)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92D30-3A08-EC9C-9393-2973B3060B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1300" r="23702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Raw Strings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500"/>
              <a:t>Prefixing a string with 'r' treats backslashes as literal characters.</a:t>
            </a:r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500"/>
              <a:t>Useful for regular expressions, file paths, or Windows-style paths.</a:t>
            </a:r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Example:</a:t>
            </a:r>
          </a:p>
          <a:p>
            <a:pPr>
              <a:lnSpc>
                <a:spcPct val="110000"/>
              </a:lnSpc>
            </a:pPr>
            <a:r>
              <a:rPr lang="en-US" sz="1500"/>
              <a:t>path = </a:t>
            </a:r>
            <a:r>
              <a:rPr lang="en-US" sz="1500" err="1"/>
              <a:t>r"C</a:t>
            </a:r>
            <a:r>
              <a:rPr lang="en-US" sz="1500"/>
              <a:t>:\Users\Name\Documents"</a:t>
            </a:r>
          </a:p>
          <a:p>
            <a:pPr>
              <a:lnSpc>
                <a:spcPct val="110000"/>
              </a:lnSpc>
            </a:pPr>
            <a:r>
              <a:rPr lang="en-US" sz="1500"/>
              <a:t>print(path)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What is it?</a:t>
            </a:r>
          </a:p>
          <a:p>
            <a:r>
              <a:t>Prefixing with 'b' creates a byte object instead of a standard string.</a:t>
            </a:r>
          </a:p>
          <a:p>
            <a:endParaRPr/>
          </a:p>
          <a:p>
            <a:r>
              <a:t>Use Case:</a:t>
            </a:r>
          </a:p>
          <a:p>
            <a:r>
              <a:t>Used for binary data like files, network streams, or encoding tasks.</a:t>
            </a:r>
          </a:p>
          <a:p>
            <a:endParaRPr/>
          </a:p>
          <a:p>
            <a:r>
              <a:t>Example:</a:t>
            </a:r>
          </a:p>
          <a:p>
            <a:r>
              <a:t>data = b"hello"</a:t>
            </a:r>
          </a:p>
          <a:p>
            <a:r>
              <a:t>print(data)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" y="-5487"/>
            <a:ext cx="91424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932" y="0"/>
            <a:ext cx="5902158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70" y="764389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530542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Unicode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451" y="2105201"/>
            <a:ext cx="8102078" cy="474731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dirty="0"/>
              <a:t>All strings in Python 3 are Unicode by default (no prefix needed).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dirty="0"/>
              <a:t>Unicode supports characters from many global languages and symbols.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dirty="0"/>
              <a:t>greeting = "</a:t>
            </a:r>
            <a:r>
              <a:rPr lang="ja-JP" altLang="en-US" dirty="0"/>
              <a:t>こんにちは</a:t>
            </a:r>
            <a:r>
              <a:rPr lang="en-US" altLang="ja-JP" dirty="0"/>
              <a:t>"</a:t>
            </a:r>
          </a:p>
          <a:p>
            <a:pPr>
              <a:lnSpc>
                <a:spcPct val="110000"/>
              </a:lnSpc>
            </a:pPr>
            <a:r>
              <a:rPr lang="en-US" dirty="0"/>
              <a:t>print(greeting)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B46F2-6915-6877-DDE3-B74F267069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24999" r="-2" b="-2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Zero to Python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r>
              <a:t>Chapter 2: Strings &amp; Text Handling</a:t>
            </a:r>
          </a:p>
          <a:p>
            <a:r>
              <a:t>Section 3: String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29111" y="-262376"/>
            <a:ext cx="5838229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675" y="808056"/>
            <a:ext cx="6285929" cy="1077229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String Concatenation (+)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479" y="2052116"/>
            <a:ext cx="4929610" cy="3997828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/>
              <a:t>Combines two or more strings into one.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/>
              <a:t>Used to dynamically build messages or join inputs.</a:t>
            </a: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/>
              <a:t>first = "Hello"</a:t>
            </a:r>
          </a:p>
          <a:p>
            <a:pPr>
              <a:lnSpc>
                <a:spcPct val="110000"/>
              </a:lnSpc>
            </a:pPr>
            <a:r>
              <a:rPr lang="en-US" sz="1400"/>
              <a:t>second = "World"</a:t>
            </a:r>
          </a:p>
          <a:p>
            <a:pPr>
              <a:lnSpc>
                <a:spcPct val="110000"/>
              </a:lnSpc>
            </a:pPr>
            <a:r>
              <a:rPr lang="en-US" sz="1400"/>
              <a:t>print(first + " " + second)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9" y="-1"/>
            <a:ext cx="91424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14283E-D7B4-49E9-932E-D7F2A284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A2D5B-EC4E-4C78-8139-F36D2F2D1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946" y="-2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AAACE2-9C9E-468F-8297-EF7B5E55F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809" y="1201723"/>
            <a:ext cx="2350312" cy="4454554"/>
          </a:xfrm>
        </p:spPr>
        <p:txBody>
          <a:bodyPr anchor="ctr">
            <a:normAutofit/>
          </a:bodyPr>
          <a:lstStyle/>
          <a:p>
            <a:r>
              <a:rPr lang="en-US" sz="3100"/>
              <a:t>String Repetition (*)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0772" y="1201723"/>
            <a:ext cx="3996937" cy="4454554"/>
          </a:xfrm>
        </p:spPr>
        <p:txBody>
          <a:bodyPr anchor="ctr">
            <a:normAutofit/>
          </a:bodyPr>
          <a:lstStyle/>
          <a:p>
            <a:r>
              <a:rPr lang="en-US" sz="1600"/>
              <a:t>What is it?</a:t>
            </a:r>
          </a:p>
          <a:p>
            <a:r>
              <a:rPr lang="en-US" sz="1600"/>
              <a:t>Repeats a string multiple times.</a:t>
            </a:r>
          </a:p>
          <a:p>
            <a:endParaRPr lang="en-US" sz="1600"/>
          </a:p>
          <a:p>
            <a:r>
              <a:rPr lang="en-US" sz="1600"/>
              <a:t>Use Case:</a:t>
            </a:r>
          </a:p>
          <a:p>
            <a:r>
              <a:rPr lang="en-US" sz="1600"/>
              <a:t>Used for formatting, animation effects, or playful repetition.</a:t>
            </a:r>
          </a:p>
          <a:p>
            <a:endParaRPr lang="en-US" sz="1600"/>
          </a:p>
          <a:p>
            <a:r>
              <a:rPr lang="en-US" sz="1600"/>
              <a:t>Example:</a:t>
            </a:r>
          </a:p>
          <a:p>
            <a:r>
              <a:rPr lang="en-US" sz="1600"/>
              <a:t>dash = "-" * 10</a:t>
            </a:r>
          </a:p>
          <a:p>
            <a:r>
              <a:rPr lang="en-US" sz="1600"/>
              <a:t>print(dash)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317" y="269442"/>
            <a:ext cx="5878011" cy="1077229"/>
          </a:xfrm>
        </p:spPr>
        <p:txBody>
          <a:bodyPr>
            <a:normAutofit/>
          </a:bodyPr>
          <a:lstStyle/>
          <a:p>
            <a:r>
              <a:rPr sz="3200" dirty="0"/>
              <a:t>Membership (in)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835" y="1346671"/>
            <a:ext cx="6400493" cy="524188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Checks if a substring exists within a string.</a:t>
            </a:r>
          </a:p>
          <a:p>
            <a:endParaRPr lang="en-US" dirty="0"/>
          </a:p>
          <a:p>
            <a:r>
              <a:rPr dirty="0"/>
              <a:t>Use Case:</a:t>
            </a:r>
          </a:p>
          <a:p>
            <a:r>
              <a:rPr dirty="0"/>
              <a:t>Used for validation or filtering.</a:t>
            </a:r>
          </a:p>
          <a:p>
            <a:endParaRPr lang="en-US" dirty="0"/>
          </a:p>
          <a:p>
            <a:r>
              <a:rPr dirty="0"/>
              <a:t>Example:</a:t>
            </a:r>
            <a:endParaRPr lang="en-US" dirty="0"/>
          </a:p>
          <a:p>
            <a:r>
              <a:rPr lang="en-US" dirty="0"/>
              <a:t># "@" in email  # Checks if email contains @</a:t>
            </a:r>
          </a:p>
          <a:p>
            <a:r>
              <a:rPr lang="en-US" dirty="0"/>
              <a:t>email = "user@example.com"</a:t>
            </a:r>
          </a:p>
          <a:p>
            <a:r>
              <a:rPr lang="en-US" dirty="0"/>
              <a:t>if "@" in email:</a:t>
            </a:r>
          </a:p>
          <a:p>
            <a:r>
              <a:rPr lang="en-US" dirty="0"/>
              <a:t>    print("This looks like an email address!")</a:t>
            </a:r>
          </a:p>
          <a:p>
            <a:r>
              <a:rPr lang="en-US" dirty="0"/>
              <a:t>⚠️ In a dictionary, in only checks for keys, not values.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C3320C8-0DF2-47E2-AE32-8C570D54B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37E2AB-626F-4D5D-8344-EE2C0819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374C91-3FF2-48F7-A02C-36E1E075F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C084A8C-D0A6-4A75-AED9-C13FD20A6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537086-027A-4360-81BC-8BA916D2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AAFA00-A1E1-4789-A035-9CBB7B030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9" y="0"/>
            <a:ext cx="77835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352" y="808056"/>
            <a:ext cx="6456028" cy="1077229"/>
          </a:xfrm>
        </p:spPr>
        <p:txBody>
          <a:bodyPr>
            <a:normAutofit/>
          </a:bodyPr>
          <a:lstStyle/>
          <a:p>
            <a:pPr algn="l"/>
            <a:r>
              <a:t>Length (len)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564" y="1680882"/>
            <a:ext cx="5657222" cy="47468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Returns the number of characters in a string.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Used to check input size, content length, etc.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msg = "Hello"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print(</a:t>
            </a:r>
            <a:r>
              <a:rPr lang="en-US" sz="1400" dirty="0" err="1"/>
              <a:t>len</a:t>
            </a:r>
            <a:r>
              <a:rPr lang="en-US" sz="1400" dirty="0"/>
              <a:t>(msg))</a:t>
            </a:r>
          </a:p>
        </p:txBody>
      </p:sp>
      <p:pic>
        <p:nvPicPr>
          <p:cNvPr id="7" name="Graphic 6" descr="Dice">
            <a:extLst>
              <a:ext uri="{FF2B5EF4-FFF2-40B4-BE49-F238E27FC236}">
                <a16:creationId xmlns:a16="http://schemas.microsoft.com/office/drawing/2014/main" id="{EFDDDE25-E311-00AE-3F19-32F5BC07D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7963" y="5177118"/>
            <a:ext cx="1359091" cy="135909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0230C3-CF46-441A-85D2-5E6F8B3A1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0749" y="-2718"/>
            <a:ext cx="20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" y="-5487"/>
            <a:ext cx="91424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932" y="0"/>
            <a:ext cx="5902158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70" y="764389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548" y="242568"/>
            <a:ext cx="5968748" cy="1530542"/>
          </a:xfrm>
        </p:spPr>
        <p:txBody>
          <a:bodyPr>
            <a:normAutofit/>
          </a:bodyPr>
          <a:lstStyle/>
          <a:p>
            <a:pPr algn="l"/>
            <a:r>
              <a:rPr lang="en-US" sz="4200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471" y="1775203"/>
            <a:ext cx="7105598" cy="4639043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Accesses characters by position (zero-based index).</a:t>
            </a:r>
          </a:p>
          <a:p>
            <a:pPr>
              <a:lnSpc>
                <a:spcPct val="110000"/>
              </a:lnSpc>
            </a:pP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Used to get specific characters from a string.</a:t>
            </a:r>
          </a:p>
          <a:p>
            <a:pPr>
              <a:lnSpc>
                <a:spcPct val="110000"/>
              </a:lnSpc>
            </a:pP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word = "Python"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print(word[0])  # 'P'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29111" y="-262376"/>
            <a:ext cx="5838229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421698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675" y="808056"/>
            <a:ext cx="6285929" cy="1077229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479" y="2052116"/>
            <a:ext cx="4929610" cy="3997828"/>
          </a:xfrm>
        </p:spPr>
        <p:txBody>
          <a:bodyPr anchor="t">
            <a:normAutofit/>
          </a:bodyPr>
          <a:lstStyle/>
          <a:p>
            <a:r>
              <a:rPr lang="en-US" sz="1500"/>
              <a:t>What is it?</a:t>
            </a:r>
          </a:p>
          <a:p>
            <a:r>
              <a:rPr lang="en-US" sz="1500"/>
              <a:t>Extracts a part of the string using start:stop notation.</a:t>
            </a:r>
          </a:p>
          <a:p>
            <a:endParaRPr lang="en-US" sz="1500"/>
          </a:p>
          <a:p>
            <a:r>
              <a:rPr lang="en-US" sz="1500"/>
              <a:t>Use Case:</a:t>
            </a:r>
          </a:p>
          <a:p>
            <a:r>
              <a:rPr lang="en-US" sz="1500"/>
              <a:t>Used to cut out sections of strings.</a:t>
            </a:r>
          </a:p>
          <a:p>
            <a:endParaRPr lang="en-US" sz="1500"/>
          </a:p>
          <a:p>
            <a:r>
              <a:rPr lang="en-US" sz="1500"/>
              <a:t>Example:</a:t>
            </a:r>
          </a:p>
          <a:p>
            <a:r>
              <a:rPr lang="en-US" sz="1500"/>
              <a:t>text = "Hello, World!"</a:t>
            </a:r>
          </a:p>
          <a:p>
            <a:r>
              <a:rPr lang="en-US" sz="1500"/>
              <a:t>print(text[0:5])  # 'Hello'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knotted rope">
            <a:extLst>
              <a:ext uri="{FF2B5EF4-FFF2-40B4-BE49-F238E27FC236}">
                <a16:creationId xmlns:a16="http://schemas.microsoft.com/office/drawing/2014/main" id="{472A3E37-1974-C6EE-3F52-1060BD2900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3204" r="7796" b="-1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Zero to Python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r>
              <a:t>Chapter 2: Strings &amp; Text Handling</a:t>
            </a:r>
          </a:p>
          <a:p>
            <a:r>
              <a:t>Section 4: String Methods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.lower()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Converts all characters in a string to lowercase.</a:t>
            </a:r>
          </a:p>
          <a:p>
            <a:endParaRPr/>
          </a:p>
          <a:p>
            <a:r>
              <a:t>Use Case:</a:t>
            </a:r>
          </a:p>
          <a:p>
            <a:r>
              <a:t>Useful for standardizing text input or comparisons.</a:t>
            </a:r>
          </a:p>
          <a:p>
            <a:endParaRPr/>
          </a:p>
          <a:p>
            <a:r>
              <a:t>Example:</a:t>
            </a:r>
          </a:p>
          <a:p>
            <a:r>
              <a:t>name = "ALICE"</a:t>
            </a:r>
          </a:p>
          <a:p>
            <a:r>
              <a:t>print(name.lower())  # 'alice'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.upper()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Converts all characters in a string to uppercase.</a:t>
            </a:r>
          </a:p>
          <a:p>
            <a:endParaRPr/>
          </a:p>
          <a:p>
            <a:r>
              <a:t>Use Case:</a:t>
            </a:r>
          </a:p>
          <a:p>
            <a:r>
              <a:t>Used to emphasize or normalize text.</a:t>
            </a:r>
          </a:p>
          <a:p>
            <a:endParaRPr/>
          </a:p>
          <a:p>
            <a:r>
              <a:t>Example:</a:t>
            </a:r>
          </a:p>
          <a:p>
            <a:r>
              <a:t>msg = "hello"</a:t>
            </a:r>
          </a:p>
          <a:p>
            <a:r>
              <a:t>print(msg.upper())  # 'HELLO'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.strip()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What is it?</a:t>
            </a:r>
          </a:p>
          <a:p>
            <a:r>
              <a:t>Removes whitespace from the beginning and end of a string.</a:t>
            </a:r>
          </a:p>
          <a:p>
            <a:endParaRPr/>
          </a:p>
          <a:p>
            <a:r>
              <a:t>Use Case:</a:t>
            </a:r>
          </a:p>
          <a:p>
            <a:r>
              <a:t>Useful when cleaning user input or raw data.</a:t>
            </a:r>
          </a:p>
          <a:p>
            <a:endParaRPr/>
          </a:p>
          <a:p>
            <a:r>
              <a:t>Example:</a:t>
            </a:r>
          </a:p>
          <a:p>
            <a:r>
              <a:t>user_input = "  yes  "</a:t>
            </a:r>
          </a:p>
          <a:p>
            <a:r>
              <a:t>print(user_input.strip())  # 'yes'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.replace()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Replaces parts of the string with new text.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to correct or modify content dynamically.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text = "I like Java"</a:t>
            </a:r>
          </a:p>
          <a:p>
            <a:r>
              <a:rPr dirty="0"/>
              <a:t>print(</a:t>
            </a:r>
            <a:r>
              <a:rPr dirty="0" err="1"/>
              <a:t>text.replace</a:t>
            </a:r>
            <a:r>
              <a:rPr dirty="0"/>
              <a:t>("Java", "Python"))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.split()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Splits a string into a list based on a delimiter.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to process CSVs, user input, or log files.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line = "</a:t>
            </a:r>
            <a:r>
              <a:rPr dirty="0" err="1"/>
              <a:t>apple,banana,cherry</a:t>
            </a:r>
            <a:r>
              <a:rPr dirty="0"/>
              <a:t>"</a:t>
            </a:r>
          </a:p>
          <a:p>
            <a:r>
              <a:rPr dirty="0"/>
              <a:t>print(</a:t>
            </a:r>
            <a:r>
              <a:rPr dirty="0" err="1"/>
              <a:t>line.split</a:t>
            </a:r>
            <a:r>
              <a:rPr dirty="0"/>
              <a:t>(","))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.join()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Joins a list of strings into one string with a delimiter.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when outputting lists as readable strings.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words = ["Hi", "there"]</a:t>
            </a:r>
          </a:p>
          <a:p>
            <a:r>
              <a:rPr dirty="0"/>
              <a:t>print(" ".join(words))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.find()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Finds the index of the first occurrence of a substring.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in search tools or filtering logic.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email = "user@example.com"</a:t>
            </a:r>
          </a:p>
          <a:p>
            <a:r>
              <a:rPr dirty="0"/>
              <a:t>print(</a:t>
            </a:r>
            <a:r>
              <a:rPr dirty="0" err="1"/>
              <a:t>email.find</a:t>
            </a:r>
            <a:r>
              <a:rPr dirty="0"/>
              <a:t>("@"))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4429" y="0"/>
            <a:ext cx="817957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560" y="808056"/>
            <a:ext cx="6005070" cy="1518934"/>
          </a:xfrm>
        </p:spPr>
        <p:txBody>
          <a:bodyPr anchor="t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Zero to Python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357300" y="808056"/>
            <a:ext cx="179902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560" y="2547708"/>
            <a:ext cx="6005070" cy="3502235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2"/>
                </a:solidFill>
              </a:rPr>
              <a:t>Chapter 2: Strings &amp; Text Handling</a:t>
            </a:r>
          </a:p>
          <a:p>
            <a:r>
              <a:rPr lang="en-US" sz="1700">
                <a:solidFill>
                  <a:schemeClr val="tx2"/>
                </a:solidFill>
              </a:rPr>
              <a:t>Section 5: f-Strings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970" y="0"/>
            <a:ext cx="24003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f-string?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635" y="1885286"/>
            <a:ext cx="7301753" cy="416465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An f-string is a formatted string literal. It starts with 'f' and allows variables and expressions inside curly braces.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for embedding variables directly into strings in a readable way.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name = "Alice"</a:t>
            </a:r>
          </a:p>
          <a:p>
            <a:r>
              <a:rPr dirty="0"/>
              <a:t>print(</a:t>
            </a:r>
            <a:r>
              <a:rPr dirty="0" err="1"/>
              <a:t>f"Hello</a:t>
            </a:r>
            <a:r>
              <a:rPr dirty="0"/>
              <a:t>, {name}!")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" y="-5487"/>
            <a:ext cx="91424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932" y="0"/>
            <a:ext cx="5902158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70" y="764389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797" y="143962"/>
            <a:ext cx="5968748" cy="1530542"/>
          </a:xfrm>
        </p:spPr>
        <p:txBody>
          <a:bodyPr>
            <a:normAutofit/>
          </a:bodyPr>
          <a:lstStyle/>
          <a:p>
            <a:pPr algn="l"/>
            <a:r>
              <a:rPr lang="en-US" sz="4200" dirty="0"/>
              <a:t>Expressions in f-strings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047" y="1731537"/>
            <a:ext cx="8456586" cy="500543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is it?</a:t>
            </a:r>
          </a:p>
          <a:p>
            <a:pPr>
              <a:lnSpc>
                <a:spcPct val="110000"/>
              </a:lnSpc>
            </a:pPr>
            <a:r>
              <a:rPr lang="en-US" dirty="0"/>
              <a:t>You can include calculations and function calls inside the curly braces.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Use Case:</a:t>
            </a:r>
          </a:p>
          <a:p>
            <a:pPr>
              <a:lnSpc>
                <a:spcPct val="110000"/>
              </a:lnSpc>
            </a:pPr>
            <a:r>
              <a:rPr lang="en-US" dirty="0"/>
              <a:t>Makes dynamic formatting simple and compact.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10000"/>
              </a:lnSpc>
            </a:pPr>
            <a:r>
              <a:rPr lang="en-US" dirty="0"/>
              <a:t>a = 5</a:t>
            </a:r>
          </a:p>
          <a:p>
            <a:pPr>
              <a:lnSpc>
                <a:spcPct val="110000"/>
              </a:lnSpc>
            </a:pPr>
            <a:r>
              <a:rPr lang="en-US" dirty="0"/>
              <a:t>b = 3</a:t>
            </a:r>
          </a:p>
          <a:p>
            <a:pPr>
              <a:lnSpc>
                <a:spcPct val="110000"/>
              </a:lnSpc>
            </a:pPr>
            <a:r>
              <a:rPr lang="en-US" dirty="0"/>
              <a:t>print(</a:t>
            </a:r>
            <a:r>
              <a:rPr lang="en-US" dirty="0" err="1"/>
              <a:t>f"Sum</a:t>
            </a:r>
            <a:r>
              <a:rPr lang="en-US" dirty="0"/>
              <a:t> is {a + b}")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with .format()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424" y="2049878"/>
            <a:ext cx="7194176" cy="4000066"/>
          </a:xfrm>
        </p:spPr>
        <p:txBody>
          <a:bodyPr>
            <a:noAutofit/>
          </a:bodyPr>
          <a:lstStyle/>
          <a:p>
            <a:r>
              <a:rPr sz="1400" dirty="0"/>
              <a:t>What is it?</a:t>
            </a:r>
          </a:p>
          <a:p>
            <a:r>
              <a:rPr sz="1400" dirty="0"/>
              <a:t>f-strings are a newer and cleaner alternative to the older .format() method.</a:t>
            </a:r>
          </a:p>
          <a:p>
            <a:endParaRPr sz="1400" dirty="0"/>
          </a:p>
          <a:p>
            <a:r>
              <a:rPr sz="1400" dirty="0"/>
              <a:t>Use Case:</a:t>
            </a:r>
          </a:p>
          <a:p>
            <a:r>
              <a:rPr sz="1400" dirty="0"/>
              <a:t>Reduces syntax clutter and improves readability.</a:t>
            </a:r>
          </a:p>
          <a:p>
            <a:endParaRPr sz="1400" dirty="0"/>
          </a:p>
          <a:p>
            <a:r>
              <a:rPr sz="1400" dirty="0"/>
              <a:t>Example:</a:t>
            </a:r>
          </a:p>
          <a:p>
            <a:r>
              <a:rPr sz="1400" dirty="0"/>
              <a:t># Old way</a:t>
            </a:r>
          </a:p>
          <a:p>
            <a:r>
              <a:rPr sz="1400" dirty="0"/>
              <a:t>print("Hello, {}".format(name))</a:t>
            </a:r>
          </a:p>
          <a:p>
            <a:r>
              <a:rPr sz="1400" dirty="0"/>
              <a:t># New way</a:t>
            </a:r>
          </a:p>
          <a:p>
            <a:r>
              <a:rPr sz="1400" dirty="0"/>
              <a:t>print(</a:t>
            </a:r>
            <a:r>
              <a:rPr sz="1400" dirty="0" err="1"/>
              <a:t>f"Hello</a:t>
            </a:r>
            <a:r>
              <a:rPr sz="1400" dirty="0"/>
              <a:t>, {name}")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strings being woven togehter">
            <a:extLst>
              <a:ext uri="{FF2B5EF4-FFF2-40B4-BE49-F238E27FC236}">
                <a16:creationId xmlns:a16="http://schemas.microsoft.com/office/drawing/2014/main" id="{EC77881B-529E-A272-4FF5-2449B2DFD3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11002" r="-1" b="-1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Zero to Python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r>
              <a:t>Chapter 2: Strings &amp; Text Handling</a:t>
            </a:r>
          </a:p>
          <a:p>
            <a:r>
              <a:t>Section 6: Multiline Strings &amp; Docstrings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Multiline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765" y="1667435"/>
            <a:ext cx="7207623" cy="438250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Triple-quoted strings (''' or """) span multiple lines.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for long text blocks like emails, messages, or embedded documents.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quote = '''To be,</a:t>
            </a:r>
          </a:p>
          <a:p>
            <a:r>
              <a:rPr dirty="0"/>
              <a:t>or not to be,</a:t>
            </a:r>
          </a:p>
          <a:p>
            <a:r>
              <a:rPr dirty="0"/>
              <a:t>that is the question.'''</a:t>
            </a:r>
          </a:p>
          <a:p>
            <a:r>
              <a:rPr dirty="0"/>
              <a:t>print(quote)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Docstring?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A docstring is a special multiline string used to document a function, class, or module.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to describe what the code does and how to use it.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def greet(name):</a:t>
            </a:r>
          </a:p>
          <a:p>
            <a:r>
              <a:rPr dirty="0"/>
              <a:t>    '''This function greets the user.'''</a:t>
            </a:r>
          </a:p>
          <a:p>
            <a:r>
              <a:rPr dirty="0"/>
              <a:t>    print(</a:t>
            </a:r>
            <a:r>
              <a:rPr dirty="0" err="1"/>
              <a:t>f"Hello</a:t>
            </a:r>
            <a:r>
              <a:rPr dirty="0"/>
              <a:t>, {name}!")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2400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140D0C6D-C93B-48C5-9C7B-57714B7B6C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11771" r="2897" b="389"/>
          <a:stretch/>
        </p:blipFill>
        <p:spPr>
          <a:xfrm>
            <a:off x="114" y="10"/>
            <a:ext cx="9143772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077229"/>
          </a:xfrm>
        </p:spPr>
        <p:txBody>
          <a:bodyPr>
            <a:normAutofit/>
          </a:bodyPr>
          <a:lstStyle/>
          <a:p>
            <a:pPr algn="l"/>
            <a:r>
              <a:t>Zero to Python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934" y="2052116"/>
            <a:ext cx="5969670" cy="3997828"/>
          </a:xfrm>
        </p:spPr>
        <p:txBody>
          <a:bodyPr>
            <a:normAutofit/>
          </a:bodyPr>
          <a:lstStyle/>
          <a:p>
            <a:r>
              <a:t>Chapter 2: Strings &amp; Text Handling</a:t>
            </a:r>
          </a:p>
          <a:p>
            <a:r>
              <a:t>Section 7: Real-World Use Cases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and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Strings are often used to record messages or errors.</a:t>
            </a:r>
          </a:p>
          <a:p>
            <a:endParaRPr/>
          </a:p>
          <a:p>
            <a:r>
              <a:t>Use Case:</a:t>
            </a:r>
          </a:p>
          <a:p>
            <a:r>
              <a:t>Used in every app to track behavior or issues.</a:t>
            </a:r>
          </a:p>
          <a:p>
            <a:endParaRPr/>
          </a:p>
          <a:p>
            <a:r>
              <a:t>Example:</a:t>
            </a:r>
          </a:p>
          <a:p>
            <a:r>
              <a:t>log = "User login failed for user_id: 42"</a:t>
            </a:r>
          </a:p>
          <a:p>
            <a:r>
              <a:t>print(log)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Input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635" y="2049878"/>
            <a:ext cx="7153836" cy="4297134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String input is collected, validated, and transformed.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in forms, CLIs, or user interfaces.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name = input("Enter your name: ")</a:t>
            </a:r>
          </a:p>
          <a:p>
            <a:r>
              <a:rPr dirty="0"/>
              <a:t>if name:</a:t>
            </a:r>
          </a:p>
          <a:p>
            <a:r>
              <a:rPr dirty="0"/>
              <a:t>    print(</a:t>
            </a:r>
            <a:r>
              <a:rPr dirty="0" err="1"/>
              <a:t>f"Hello</a:t>
            </a:r>
            <a:r>
              <a:rPr dirty="0"/>
              <a:t>, {name}!")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976" y="1885285"/>
            <a:ext cx="7234518" cy="4273467"/>
          </a:xfrm>
        </p:spPr>
        <p:txBody>
          <a:bodyPr>
            <a:normAutofit lnSpcReduction="1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F-strings or string formatting build readable messages.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in reports, receipts, UI messages, etc.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total = 29.99</a:t>
            </a:r>
          </a:p>
          <a:p>
            <a:r>
              <a:rPr dirty="0"/>
              <a:t>print(</a:t>
            </a:r>
            <a:r>
              <a:rPr dirty="0" err="1"/>
              <a:t>f"Your</a:t>
            </a:r>
            <a:r>
              <a:rPr dirty="0"/>
              <a:t> total is ${total:.2f}")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2105202"/>
            <a:ext cx="7020154" cy="475279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" y="-5487"/>
            <a:ext cx="91424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932" y="0"/>
            <a:ext cx="5902158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470" y="764389"/>
            <a:ext cx="725361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6" y="808056"/>
            <a:ext cx="5968748" cy="1530542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Text File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2155" y="2662280"/>
            <a:ext cx="6155449" cy="3387664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00"/>
              <a:t>What is it?</a:t>
            </a:r>
          </a:p>
          <a:p>
            <a:pPr>
              <a:lnSpc>
                <a:spcPct val="110000"/>
              </a:lnSpc>
            </a:pPr>
            <a:r>
              <a:rPr lang="en-US" sz="1000"/>
              <a:t>Strings are used to read, write, and analyze files.</a:t>
            </a:r>
          </a:p>
          <a:p>
            <a:pPr>
              <a:lnSpc>
                <a:spcPct val="110000"/>
              </a:lnSpc>
            </a:pP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Use Case:</a:t>
            </a:r>
          </a:p>
          <a:p>
            <a:pPr>
              <a:lnSpc>
                <a:spcPct val="110000"/>
              </a:lnSpc>
            </a:pPr>
            <a:r>
              <a:rPr lang="en-US" sz="1000"/>
              <a:t>Used in automation, configuration, and scripting.</a:t>
            </a:r>
          </a:p>
          <a:p>
            <a:pPr>
              <a:lnSpc>
                <a:spcPct val="110000"/>
              </a:lnSpc>
            </a:pP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Example:</a:t>
            </a:r>
          </a:p>
          <a:p>
            <a:pPr>
              <a:lnSpc>
                <a:spcPct val="110000"/>
              </a:lnSpc>
            </a:pPr>
            <a:r>
              <a:rPr lang="en-US" sz="1000"/>
              <a:t>with open("data.txt") as f:</a:t>
            </a:r>
          </a:p>
          <a:p>
            <a:pPr>
              <a:lnSpc>
                <a:spcPct val="110000"/>
              </a:lnSpc>
            </a:pPr>
            <a:r>
              <a:rPr lang="en-US" sz="1000"/>
              <a:t>    lines = </a:t>
            </a:r>
            <a:r>
              <a:rPr lang="en-US" sz="1000" err="1"/>
              <a:t>f.read</a:t>
            </a:r>
            <a:r>
              <a:rPr lang="en-US" sz="1000"/>
              <a:t>().</a:t>
            </a:r>
            <a:r>
              <a:rPr lang="en-US" sz="1000" err="1"/>
              <a:t>splitlines</a:t>
            </a:r>
            <a:r>
              <a:rPr lang="en-US" sz="1000"/>
              <a:t>()</a:t>
            </a:r>
          </a:p>
          <a:p>
            <a:pPr>
              <a:lnSpc>
                <a:spcPct val="110000"/>
              </a:lnSpc>
            </a:pPr>
            <a:r>
              <a:rPr lang="en-US" sz="1000"/>
              <a:t>    print(lines)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698</TotalTime>
  <Words>1590</Words>
  <Application>Microsoft Office PowerPoint</Application>
  <PresentationFormat>On-screen Show (4:3)</PresentationFormat>
  <Paragraphs>325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MS Shell Dlg 2</vt:lpstr>
      <vt:lpstr>Wingdings</vt:lpstr>
      <vt:lpstr>Wingdings 3</vt:lpstr>
      <vt:lpstr>Madison</vt:lpstr>
      <vt:lpstr>Zero to Python</vt:lpstr>
      <vt:lpstr>What is a String?</vt:lpstr>
      <vt:lpstr>Single &amp; Double Quotes</vt:lpstr>
      <vt:lpstr>Triple Quotes</vt:lpstr>
      <vt:lpstr>Zero to Python</vt:lpstr>
      <vt:lpstr>Normal Strings</vt:lpstr>
      <vt:lpstr>Raw Strings</vt:lpstr>
      <vt:lpstr>Byte Strings</vt:lpstr>
      <vt:lpstr>Unicode Strings</vt:lpstr>
      <vt:lpstr>Zero to Python</vt:lpstr>
      <vt:lpstr>String Concatenation (+)</vt:lpstr>
      <vt:lpstr>String Repetition (*)</vt:lpstr>
      <vt:lpstr>Membership (in)</vt:lpstr>
      <vt:lpstr>Length (len)</vt:lpstr>
      <vt:lpstr>Indexing</vt:lpstr>
      <vt:lpstr>Slicing</vt:lpstr>
      <vt:lpstr>Zero to Python</vt:lpstr>
      <vt:lpstr>.lower()</vt:lpstr>
      <vt:lpstr>.upper()</vt:lpstr>
      <vt:lpstr>.strip()</vt:lpstr>
      <vt:lpstr>.replace()</vt:lpstr>
      <vt:lpstr>.split()</vt:lpstr>
      <vt:lpstr>.join()</vt:lpstr>
      <vt:lpstr>.find()</vt:lpstr>
      <vt:lpstr>Zero to Python</vt:lpstr>
      <vt:lpstr>What is an f-string?</vt:lpstr>
      <vt:lpstr>Expressions in f-strings</vt:lpstr>
      <vt:lpstr>Comparing with .format()</vt:lpstr>
      <vt:lpstr>Zero to Python</vt:lpstr>
      <vt:lpstr>Multiline Strings</vt:lpstr>
      <vt:lpstr>What is a Docstring?</vt:lpstr>
      <vt:lpstr>Zero to Python</vt:lpstr>
      <vt:lpstr>Logging and Debugging</vt:lpstr>
      <vt:lpstr>User Input and Validation</vt:lpstr>
      <vt:lpstr>Formatted Output</vt:lpstr>
      <vt:lpstr>Text File Processing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3</cp:revision>
  <dcterms:created xsi:type="dcterms:W3CDTF">2013-01-27T09:14:16Z</dcterms:created>
  <dcterms:modified xsi:type="dcterms:W3CDTF">2025-04-10T01:56:28Z</dcterms:modified>
  <cp:category/>
</cp:coreProperties>
</file>