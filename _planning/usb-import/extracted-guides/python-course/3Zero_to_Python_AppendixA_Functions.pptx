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67" r:id="rId31"/>
    <p:sldId id="283" r:id="rId32"/>
    <p:sldId id="288" r:id="rId33"/>
    <p:sldId id="289" r:id="rId34"/>
    <p:sldId id="290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6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2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0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3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8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9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7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30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41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75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11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65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9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0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6118" y="1143000"/>
            <a:ext cx="4701185" cy="3134032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EBEBEB"/>
                </a:solidFill>
              </a:rPr>
              <a:t>Zero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6118" y="4473677"/>
            <a:ext cx="4701185" cy="1268144"/>
          </a:xfrm>
        </p:spPr>
        <p:txBody>
          <a:bodyPr>
            <a:normAutofit/>
          </a:bodyPr>
          <a:lstStyle/>
          <a:p>
            <a:r>
              <a:rPr lang="en-US" sz="1700" dirty="0"/>
              <a:t>Appendix A: Functions in Python</a:t>
            </a:r>
          </a:p>
          <a:p>
            <a:r>
              <a:rPr lang="en-US" sz="1700" dirty="0"/>
              <a:t>Part 1 – What is a Function?</a:t>
            </a:r>
          </a:p>
        </p:txBody>
      </p:sp>
      <p:pic>
        <p:nvPicPr>
          <p:cNvPr id="7" name="Graphic 6" descr="Snake">
            <a:extLst>
              <a:ext uri="{FF2B5EF4-FFF2-40B4-BE49-F238E27FC236}">
                <a16:creationId xmlns:a16="http://schemas.microsoft.com/office/drawing/2014/main" id="{664A9C9A-B808-3242-B94B-1EC6B2D24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323" y="2103294"/>
            <a:ext cx="2648296" cy="264829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A function is a block of reusable code that performs a specific task.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def greet():</a:t>
            </a:r>
          </a:p>
          <a:p>
            <a:r>
              <a:rPr lang="en-US">
                <a:solidFill>
                  <a:schemeClr val="tx1"/>
                </a:solidFill>
              </a:rPr>
              <a:t>    print("Hello!")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greet()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Why Use Functions?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What is it?</a:t>
            </a:r>
          </a:p>
          <a:p>
            <a:r>
              <a:rPr lang="en-US" sz="1700" dirty="0"/>
              <a:t>Functions make your code modular, reusable, and easier to read.</a:t>
            </a:r>
          </a:p>
          <a:p>
            <a:endParaRPr lang="en-US" sz="1700" dirty="0"/>
          </a:p>
          <a:p>
            <a:r>
              <a:rPr lang="en-US" sz="1700" dirty="0"/>
              <a:t>Example:</a:t>
            </a:r>
          </a:p>
          <a:p>
            <a:r>
              <a:rPr lang="en-US" sz="1700" dirty="0"/>
              <a:t># Without function</a:t>
            </a:r>
          </a:p>
          <a:p>
            <a:r>
              <a:rPr lang="en-US" sz="1700" dirty="0"/>
              <a:t>print("Hello, Alice!")</a:t>
            </a:r>
          </a:p>
          <a:p>
            <a:r>
              <a:rPr lang="en-US" sz="1700" dirty="0"/>
              <a:t>print("Hello, Bob!")</a:t>
            </a:r>
          </a:p>
          <a:p>
            <a:endParaRPr lang="en-US" sz="1700" dirty="0"/>
          </a:p>
          <a:p>
            <a:r>
              <a:rPr lang="en-US" sz="1700" dirty="0"/>
              <a:t># With function</a:t>
            </a:r>
          </a:p>
          <a:p>
            <a:r>
              <a:rPr lang="en-US" sz="1700" dirty="0"/>
              <a:t>def greet(name):</a:t>
            </a:r>
          </a:p>
          <a:p>
            <a:r>
              <a:rPr lang="en-US" sz="1700" dirty="0"/>
              <a:t>    print(</a:t>
            </a:r>
            <a:r>
              <a:rPr lang="en-US" sz="1700" dirty="0" err="1"/>
              <a:t>f"Hello</a:t>
            </a:r>
            <a:r>
              <a:rPr lang="en-US" sz="1700" dirty="0"/>
              <a:t>, {name}!")</a:t>
            </a:r>
          </a:p>
          <a:p>
            <a:r>
              <a:rPr lang="en-US" sz="1700" dirty="0"/>
              <a:t>greet("Alice")</a:t>
            </a:r>
          </a:p>
          <a:p>
            <a:r>
              <a:rPr lang="en-US" sz="1700" dirty="0"/>
              <a:t>greet("Bob")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Defining a Function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Use the 'def' keyword followed by a name and parentheses.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def say_hello():</a:t>
            </a:r>
          </a:p>
          <a:p>
            <a:r>
              <a:rPr lang="en-US">
                <a:solidFill>
                  <a:schemeClr val="tx1"/>
                </a:solidFill>
              </a:rPr>
              <a:t>    print("Hi there!")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D9464E-E5B9-40C0-B738-67C266F5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187" y="473745"/>
            <a:ext cx="8420318" cy="5902829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CD7EA2-2557-4E49-9B59-9C028EF1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473746"/>
            <a:ext cx="3126513" cy="5902828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2291" y="1175809"/>
            <a:ext cx="2165473" cy="4506382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EBEBEB"/>
                </a:solidFill>
              </a:rPr>
              <a:t>Calling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8" y="766482"/>
            <a:ext cx="4644175" cy="491570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What is it?</a:t>
            </a:r>
          </a:p>
          <a:p>
            <a:r>
              <a:rPr lang="en-US" sz="2000" dirty="0">
                <a:solidFill>
                  <a:srgbClr val="FFFFFF"/>
                </a:solidFill>
              </a:rPr>
              <a:t>To run a function, use its name followed by parentheses.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Example:</a:t>
            </a:r>
          </a:p>
          <a:p>
            <a:r>
              <a:rPr lang="en-US" sz="2000" dirty="0" err="1">
                <a:solidFill>
                  <a:srgbClr val="FFFFFF"/>
                </a:solidFill>
              </a:rPr>
              <a:t>say_hello</a:t>
            </a:r>
            <a:r>
              <a:rPr lang="en-US" sz="200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5" y="473747"/>
            <a:ext cx="514350" cy="59028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 Parameters&amp; Arguments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is it?</a:t>
            </a:r>
          </a:p>
          <a:p>
            <a:r>
              <a:rPr lang="en-US" dirty="0">
                <a:solidFill>
                  <a:schemeClr val="tx1"/>
                </a:solidFill>
              </a:rPr>
              <a:t>Parameters are placeholders in function definitions. Arguments are actual values you pass in.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Example:</a:t>
            </a:r>
          </a:p>
          <a:p>
            <a:r>
              <a:rPr lang="en-US" dirty="0">
                <a:solidFill>
                  <a:schemeClr val="tx1"/>
                </a:solidFill>
              </a:rPr>
              <a:t>def greet(name):</a:t>
            </a:r>
          </a:p>
          <a:p>
            <a:r>
              <a:rPr lang="en-US" dirty="0">
                <a:solidFill>
                  <a:schemeClr val="tx1"/>
                </a:solidFill>
              </a:rPr>
              <a:t>    print(</a:t>
            </a:r>
            <a:r>
              <a:rPr lang="en-US" dirty="0" err="1">
                <a:solidFill>
                  <a:schemeClr val="tx1"/>
                </a:solidFill>
              </a:rPr>
              <a:t>f"Hello</a:t>
            </a:r>
            <a:r>
              <a:rPr lang="en-US" dirty="0">
                <a:solidFill>
                  <a:schemeClr val="tx1"/>
                </a:solidFill>
              </a:rPr>
              <a:t>, {name}!")</a:t>
            </a:r>
          </a:p>
          <a:p>
            <a:r>
              <a:rPr lang="en-US" dirty="0">
                <a:solidFill>
                  <a:schemeClr val="tx1"/>
                </a:solidFill>
              </a:rPr>
              <a:t>greet("Eve")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Use the 'return' keyword to send data back from a function.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def add(a, b):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    return a + b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result = add(3, 4)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print(result)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Real-World Analogy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A function is like a coffee machine. You give it input (beans), and it gives you output (coffee).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def make_coffee(beans):</a:t>
            </a:r>
          </a:p>
          <a:p>
            <a:r>
              <a:rPr lang="en-US">
                <a:solidFill>
                  <a:schemeClr val="tx1"/>
                </a:solidFill>
              </a:rPr>
              <a:t>    return "coffee"</a:t>
            </a:r>
          </a:p>
          <a:p>
            <a:r>
              <a:rPr lang="en-US">
                <a:solidFill>
                  <a:schemeClr val="tx1"/>
                </a:solidFill>
              </a:rPr>
              <a:t>print(make_coffee("arabica"))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Appendix A: Functions in Python</a:t>
            </a:r>
          </a:p>
          <a:p>
            <a:r>
              <a:t>Part 2 – Built-in 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print()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Displays output on the screen.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print("Hello, world!")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len()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the length of an object like a string or list.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len("Python")  # Output: 6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input()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Reads user input from the console.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name = input("Enter your name: ")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int()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Converts a value to an integer.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int("5")  # Output: 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float()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Converts a value to a float.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float("3.14")  # Output: 3.14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str()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Converts a value to a string.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str(100)  # Output: '100'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124000"/>
                <a:satMod val="148000"/>
                <a:lumMod val="124000"/>
              </a:schemeClr>
            </a:gs>
            <a:gs pos="100000">
              <a:schemeClr val="bg1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noFill/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124" y="821095"/>
            <a:ext cx="6922639" cy="106990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abs()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124" y="2202025"/>
            <a:ext cx="5733880" cy="350831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the absolute value of a number.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abs(-7)  # Output: 7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round()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Rounds a number to the nearest integer or to a specified number of decimals.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round(3.14159, 2)  # Output: 3.14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sum()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Adds up all items in an iterable (like a list).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sum([1, 2, 3])  # Output: 6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Returns the smallest item from a list or iterable.</a:t>
            </a:r>
          </a:p>
          <a:p>
            <a:endParaRPr/>
          </a:p>
          <a:p>
            <a:r>
              <a:t>Example:</a:t>
            </a:r>
          </a:p>
          <a:p>
            <a:r>
              <a:t>min([4, 1, 7])  # Output: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17975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9144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1C7165-8A3A-44EB-88D0-4EFA36A00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1081473-BB93-49A4-B605-4E2053739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838200"/>
            <a:ext cx="6619244" cy="97790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EBEBEB"/>
                </a:solidFill>
              </a:rPr>
              <a:t>max()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78" y="2757942"/>
            <a:ext cx="6619244" cy="3261857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404040"/>
                </a:solidFill>
              </a:rPr>
              <a:t>What is it?</a:t>
            </a:r>
          </a:p>
          <a:p>
            <a:r>
              <a:rPr lang="en-US" sz="1700">
                <a:solidFill>
                  <a:srgbClr val="404040"/>
                </a:solidFill>
              </a:rPr>
              <a:t>Returns the largest item from a list or iterable.</a:t>
            </a:r>
          </a:p>
          <a:p>
            <a:endParaRPr lang="en-US" sz="1700">
              <a:solidFill>
                <a:srgbClr val="404040"/>
              </a:solidFill>
            </a:endParaRPr>
          </a:p>
          <a:p>
            <a:r>
              <a:rPr lang="en-US" sz="1700">
                <a:solidFill>
                  <a:srgbClr val="404040"/>
                </a:solidFill>
              </a:rPr>
              <a:t>Example:</a:t>
            </a:r>
          </a:p>
          <a:p>
            <a:r>
              <a:rPr lang="en-US" sz="1700">
                <a:solidFill>
                  <a:srgbClr val="404040"/>
                </a:solidFill>
              </a:rPr>
              <a:t>max([4, 1, 7])  # Output: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sorted()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a new sorted list from the items in an iterable.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sorted([3, 1, 2])  # Output: [1, 2, 3]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reversed()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a reverse iterator over a sequence.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list(reversed([1, 2, 3]))  # Output: [3, 2, 1]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124000"/>
                <a:satMod val="148000"/>
                <a:lumMod val="124000"/>
              </a:schemeClr>
            </a:gs>
            <a:gs pos="100000">
              <a:schemeClr val="bg1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noFill/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124" y="821095"/>
            <a:ext cx="6922639" cy="106990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all()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124" y="2202025"/>
            <a:ext cx="5733880" cy="350831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True if all elements of the iterable are true.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all([True, True, 1])  # Output: True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any()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True if any element of the iterable is true.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any([0, False, 5])  # Output: True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zip()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Aggregates elements from two or more iterables.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list(zip([1, 2], ['a', 'b']))  # Output: [(1, 'a'), (2, 'b')]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enumerate()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60868" y="1590205"/>
            <a:ext cx="6053670" cy="3677591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Share With Person">
            <a:extLst>
              <a:ext uri="{FF2B5EF4-FFF2-40B4-BE49-F238E27FC236}">
                <a16:creationId xmlns:a16="http://schemas.microsoft.com/office/drawing/2014/main" id="{61B0D41E-5ED5-D9D0-6FB4-628D6C8BB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3669" y="1890796"/>
            <a:ext cx="3093988" cy="309398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2418735"/>
            <a:ext cx="4554582" cy="381174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it?</a:t>
            </a:r>
          </a:p>
          <a:p>
            <a:r>
              <a:rPr lang="en-US">
                <a:solidFill>
                  <a:srgbClr val="FFFFFF"/>
                </a:solidFill>
              </a:rPr>
              <a:t>Returns pairs of index and value from an iterable.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Example:</a:t>
            </a:r>
          </a:p>
          <a:p>
            <a:r>
              <a:rPr lang="en-US">
                <a:solidFill>
                  <a:srgbClr val="FFFFFF"/>
                </a:solidFill>
              </a:rPr>
              <a:t>list(enumerate(['a', 'b']))  # Output: [(0, 'a'), (1, 'b')]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help()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Displays the help documentation for an object or function.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help(print)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dir()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Lists the attributes and methods of an object.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dir("text")  # Output: [..., 'upper', 'strip', ...]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range()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Generates a sequence of numbers.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list(range(3))  # Output: [0, 1, 2]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type()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Returns the type of an object.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type(42)  # Output: &lt;class 'int'&gt;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isinstance()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Checks if an object is an instance of a specific class.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isinstance(5, int)  # Output: True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2500">
                <a:solidFill>
                  <a:schemeClr val="tx1"/>
                </a:solidFill>
              </a:rPr>
              <a:t>Understanding type()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r>
              <a:rPr lang="en-US">
                <a:solidFill>
                  <a:schemeClr val="tx1"/>
                </a:solidFill>
              </a:rPr>
              <a:t>type() returns the exact type of a given value.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r>
              <a:rPr lang="en-US">
                <a:solidFill>
                  <a:schemeClr val="tx1"/>
                </a:solidFill>
              </a:rPr>
              <a:t>x = 42</a:t>
            </a:r>
          </a:p>
          <a:p>
            <a:r>
              <a:rPr lang="en-US">
                <a:solidFill>
                  <a:schemeClr val="tx1"/>
                </a:solidFill>
              </a:rPr>
              <a:t>print(type(x))  # Output: &lt;class 'int'&gt;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Use it when you need to know the precise type.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2500">
                <a:solidFill>
                  <a:schemeClr val="tx1"/>
                </a:solidFill>
              </a:rPr>
              <a:t>Understanding isinstance()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What is it?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isinstance() checks if a value belongs to a type or a group of types.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x = 42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print(isinstance(x, int))            # True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print(isinstance(x, (int, float)))   # True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Use it when flexible type checking is needed.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tx1"/>
                </a:solidFill>
              </a:rPr>
              <a:t>type() vs isinstance():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type():</a:t>
            </a:r>
          </a:p>
          <a:p>
            <a:r>
              <a:rPr lang="en-US">
                <a:solidFill>
                  <a:schemeClr val="tx1"/>
                </a:solidFill>
              </a:rPr>
              <a:t>- Returns exact class type</a:t>
            </a:r>
          </a:p>
          <a:p>
            <a:r>
              <a:rPr lang="en-US">
                <a:solidFill>
                  <a:schemeClr val="tx1"/>
                </a:solidFill>
              </a:rPr>
              <a:t>- Good for strict comparisons</a:t>
            </a:r>
          </a:p>
          <a:p>
            <a:r>
              <a:rPr lang="en-US">
                <a:solidFill>
                  <a:schemeClr val="tx1"/>
                </a:solidFill>
              </a:rPr>
              <a:t>- Example: type('hello') == str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isinstance():</a:t>
            </a:r>
          </a:p>
          <a:p>
            <a:r>
              <a:rPr lang="en-US">
                <a:solidFill>
                  <a:schemeClr val="tx1"/>
                </a:solidFill>
              </a:rPr>
              <a:t>- Checks type or inheritance</a:t>
            </a:r>
          </a:p>
          <a:p>
            <a:r>
              <a:rPr lang="en-US">
                <a:solidFill>
                  <a:schemeClr val="tx1"/>
                </a:solidFill>
              </a:rPr>
              <a:t>- Good for flexible validation</a:t>
            </a:r>
          </a:p>
          <a:p>
            <a:r>
              <a:rPr lang="en-US">
                <a:solidFill>
                  <a:schemeClr val="tx1"/>
                </a:solidFill>
              </a:rPr>
              <a:t>- Example: isinstance(True, int)  # True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When to Use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Use type() when:</a:t>
            </a:r>
          </a:p>
          <a:p>
            <a:r>
              <a:rPr lang="en-US">
                <a:solidFill>
                  <a:schemeClr val="tx1"/>
                </a:solidFill>
              </a:rPr>
              <a:t>- You need to confirm exact data type</a:t>
            </a:r>
          </a:p>
          <a:p>
            <a:r>
              <a:rPr lang="en-US">
                <a:solidFill>
                  <a:schemeClr val="tx1"/>
                </a:solidFill>
              </a:rPr>
              <a:t>- Strict logic is required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Use isinstance() when:</a:t>
            </a:r>
          </a:p>
          <a:p>
            <a:r>
              <a:rPr lang="en-US">
                <a:solidFill>
                  <a:schemeClr val="tx1"/>
                </a:solidFill>
              </a:rPr>
              <a:t>- Accepting multiple valid types</a:t>
            </a:r>
          </a:p>
          <a:p>
            <a:r>
              <a:rPr lang="en-US">
                <a:solidFill>
                  <a:schemeClr val="tx1"/>
                </a:solidFill>
              </a:rPr>
              <a:t>- Working with class hierarchies</a:t>
            </a:r>
          </a:p>
          <a:p>
            <a:r>
              <a:rPr lang="en-US">
                <a:solidFill>
                  <a:schemeClr val="tx1"/>
                </a:solidFill>
              </a:rPr>
              <a:t>- Writing flexible, user-safe code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657</TotalTime>
  <Words>1174</Words>
  <Application>Microsoft Office PowerPoint</Application>
  <PresentationFormat>On-screen Show (4:3)</PresentationFormat>
  <Paragraphs>238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Century Gothic</vt:lpstr>
      <vt:lpstr>Wingdings 3</vt:lpstr>
      <vt:lpstr>Ion Boardroom</vt:lpstr>
      <vt:lpstr>Zero to Python</vt:lpstr>
      <vt:lpstr>What is a Function?</vt:lpstr>
      <vt:lpstr>Why Use Functions?</vt:lpstr>
      <vt:lpstr>Defining a Function</vt:lpstr>
      <vt:lpstr>Calling a Function</vt:lpstr>
      <vt:lpstr>Function Parameters&amp; Arguments</vt:lpstr>
      <vt:lpstr>Return Values</vt:lpstr>
      <vt:lpstr>Real-World Analogy</vt:lpstr>
      <vt:lpstr>Zero to Python</vt:lpstr>
      <vt:lpstr>print()</vt:lpstr>
      <vt:lpstr>len()</vt:lpstr>
      <vt:lpstr>input()</vt:lpstr>
      <vt:lpstr>int()</vt:lpstr>
      <vt:lpstr>float()</vt:lpstr>
      <vt:lpstr>str()</vt:lpstr>
      <vt:lpstr>abs()</vt:lpstr>
      <vt:lpstr>round()</vt:lpstr>
      <vt:lpstr>sum()</vt:lpstr>
      <vt:lpstr>min()</vt:lpstr>
      <vt:lpstr>max()</vt:lpstr>
      <vt:lpstr>sorted()</vt:lpstr>
      <vt:lpstr>reversed()</vt:lpstr>
      <vt:lpstr>all()</vt:lpstr>
      <vt:lpstr>any()</vt:lpstr>
      <vt:lpstr>zip()</vt:lpstr>
      <vt:lpstr>enumerate()</vt:lpstr>
      <vt:lpstr>help()</vt:lpstr>
      <vt:lpstr>dir()</vt:lpstr>
      <vt:lpstr>range()</vt:lpstr>
      <vt:lpstr>type()</vt:lpstr>
      <vt:lpstr>isinstance()</vt:lpstr>
      <vt:lpstr>Understanding type()</vt:lpstr>
      <vt:lpstr>Understanding isinstance()</vt:lpstr>
      <vt:lpstr>type() vs isinstance(): Key Differences</vt:lpstr>
      <vt:lpstr>When to Use Each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3</cp:revision>
  <dcterms:created xsi:type="dcterms:W3CDTF">2013-01-27T09:14:16Z</dcterms:created>
  <dcterms:modified xsi:type="dcterms:W3CDTF">2025-04-10T01:37:08Z</dcterms:modified>
  <cp:category/>
</cp:coreProperties>
</file>