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46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479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535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069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697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41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698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918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052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446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110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9355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055050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0574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959301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6949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5750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988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3817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89220CFE-A3C6-448E-A8C7-CEAED9325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8507" y="482103"/>
            <a:ext cx="5915494" cy="1753098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2700" dirty="0"/>
              <a:t>📊 Pandas: The Python Powerhouse for Data</a:t>
            </a:r>
          </a:p>
        </p:txBody>
      </p:sp>
      <p:sp>
        <p:nvSpPr>
          <p:cNvPr id="38" name="Snip Diagonal Corner Rectangle 25">
            <a:extLst>
              <a:ext uri="{FF2B5EF4-FFF2-40B4-BE49-F238E27FC236}">
                <a16:creationId xmlns:a16="http://schemas.microsoft.com/office/drawing/2014/main" id="{2E91ED80-632C-4328-8E5C-0CAF33E77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500" y="620722"/>
            <a:ext cx="2753006" cy="5286838"/>
          </a:xfrm>
          <a:prstGeom prst="snip2DiagRect">
            <a:avLst>
              <a:gd name="adj1" fmla="val 11518"/>
              <a:gd name="adj2" fmla="val 0"/>
            </a:avLst>
          </a:prstGeom>
          <a:solidFill>
            <a:schemeClr val="tx1"/>
          </a:solidFill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anda eating on the ground">
            <a:extLst>
              <a:ext uri="{FF2B5EF4-FFF2-40B4-BE49-F238E27FC236}">
                <a16:creationId xmlns:a16="http://schemas.microsoft.com/office/drawing/2014/main" id="{05673566-63DD-ADF7-2103-5508ED7E48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422" r="37864"/>
          <a:stretch/>
        </p:blipFill>
        <p:spPr>
          <a:xfrm>
            <a:off x="600418" y="786117"/>
            <a:ext cx="2503170" cy="4956048"/>
          </a:xfrm>
          <a:custGeom>
            <a:avLst/>
            <a:gdLst/>
            <a:ahLst/>
            <a:cxnLst/>
            <a:rect l="l" t="t" r="r" b="b"/>
            <a:pathLst>
              <a:path w="3337560" h="4956048">
                <a:moveTo>
                  <a:pt x="384420" y="0"/>
                </a:moveTo>
                <a:lnTo>
                  <a:pt x="3337560" y="0"/>
                </a:lnTo>
                <a:lnTo>
                  <a:pt x="3337560" y="4571628"/>
                </a:lnTo>
                <a:lnTo>
                  <a:pt x="2953140" y="4956048"/>
                </a:lnTo>
                <a:lnTo>
                  <a:pt x="0" y="4956048"/>
                </a:lnTo>
                <a:lnTo>
                  <a:pt x="0" y="384420"/>
                </a:lnTo>
                <a:close/>
              </a:path>
            </a:pathLst>
          </a:cu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2225" y="2387102"/>
            <a:ext cx="4690344" cy="3615267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Self-paced Code_A_Long Series</a:t>
            </a:r>
          </a:p>
          <a:p>
            <a:r>
              <a:rPr lang="en-US">
                <a:solidFill>
                  <a:schemeClr val="tx1"/>
                </a:solidFill>
              </a:rPr>
              <a:t>Learn how to clean, analyze, and export real-world data using Pandas.</a:t>
            </a:r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3A271B6-83F2-4E87-A6AD-450F042D3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963333"/>
            <a:ext cx="2236395" cy="3208867"/>
            <a:chOff x="9206969" y="2963333"/>
            <a:chExt cx="2981858" cy="3208867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A433C90-9936-4ABD-B763-2CD6C42165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6D1147B-1DF4-4FA0-9601-3AB638E3B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9E30F5C-D28E-4B06-847C-1104626FC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1B65F81-D52E-422A-BA2A-0E3294D0CD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992E9D3-9DB7-4C46-8AFB-E50194C89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ADF2543-1B6F-4FBC-A7AF-53A0430E0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485244"/>
            <a:ext cx="6400800" cy="1507067"/>
          </a:xfrm>
        </p:spPr>
        <p:txBody>
          <a:bodyPr>
            <a:normAutofit/>
          </a:bodyPr>
          <a:lstStyle/>
          <a:p>
            <a:r>
              <a:rPr dirty="0"/>
              <a:t>🐼 What </a:t>
            </a:r>
            <a:r>
              <a:rPr lang="en-US" dirty="0"/>
              <a:t>are</a:t>
            </a:r>
            <a:r>
              <a:rPr dirty="0"/>
              <a:t> Pandas?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0A6E81-6B71-43DF-877B-E964A9A4C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963333"/>
            <a:ext cx="2236395" cy="3208867"/>
            <a:chOff x="9206969" y="2963333"/>
            <a:chExt cx="2981858" cy="3208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E35C3AD-357F-4004-A3F3-2D4EAF34A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37B6032-0A70-4F26-A9A3-B4D60DF11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E192CE3-3DD1-448F-93BE-42983DA0D5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6D3DA09-5C72-4562-BEDE-1937DF87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6ACA7CA-2A20-49D7-9053-E076463D7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2068511"/>
            <a:ext cx="6400800" cy="361526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- Open-source Python library for data analysis</a:t>
            </a:r>
          </a:p>
          <a:p>
            <a:r>
              <a:rPr lang="en-US" dirty="0">
                <a:solidFill>
                  <a:schemeClr val="tx1"/>
                </a:solidFill>
              </a:rPr>
              <a:t>- Built for speed and productivity</a:t>
            </a:r>
          </a:p>
          <a:p>
            <a:r>
              <a:rPr lang="en-US" dirty="0">
                <a:solidFill>
                  <a:schemeClr val="tx1"/>
                </a:solidFill>
              </a:rPr>
              <a:t>- Ideal for structured (table-like)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ADF2543-1B6F-4FBC-A7AF-53A0430E0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485244"/>
            <a:ext cx="6400800" cy="1507067"/>
          </a:xfrm>
        </p:spPr>
        <p:txBody>
          <a:bodyPr>
            <a:normAutofit/>
          </a:bodyPr>
          <a:lstStyle/>
          <a:p>
            <a:r>
              <a:t>✨ What Makes Pandas Special?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0A6E81-6B71-43DF-877B-E964A9A4C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963333"/>
            <a:ext cx="2236395" cy="3208867"/>
            <a:chOff x="9206969" y="2963333"/>
            <a:chExt cx="2981858" cy="3208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E35C3AD-357F-4004-A3F3-2D4EAF34A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37B6032-0A70-4F26-A9A3-B4D60DF11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E192CE3-3DD1-448F-93BE-42983DA0D5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6D3DA09-5C72-4562-BEDE-1937DF87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6ACA7CA-2A20-49D7-9053-E076463D7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2068511"/>
            <a:ext cx="7941476" cy="361526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- 🧱 </a:t>
            </a:r>
            <a:r>
              <a:rPr lang="en-US" dirty="0" err="1">
                <a:solidFill>
                  <a:schemeClr val="tx1"/>
                </a:solidFill>
              </a:rPr>
              <a:t>DataFrame</a:t>
            </a:r>
            <a:r>
              <a:rPr lang="en-US" dirty="0">
                <a:solidFill>
                  <a:schemeClr val="tx1"/>
                </a:solidFill>
              </a:rPr>
              <a:t>: rows + columns (like a spreadsheet)</a:t>
            </a:r>
          </a:p>
          <a:p>
            <a:r>
              <a:rPr lang="en-US" dirty="0">
                <a:solidFill>
                  <a:schemeClr val="tx1"/>
                </a:solidFill>
              </a:rPr>
              <a:t>- 🔁 Read/write CSV, Excel, JSON</a:t>
            </a:r>
          </a:p>
          <a:p>
            <a:r>
              <a:rPr lang="en-US" dirty="0">
                <a:solidFill>
                  <a:schemeClr val="tx1"/>
                </a:solidFill>
              </a:rPr>
              <a:t>- 🔍 Filter and query</a:t>
            </a:r>
          </a:p>
          <a:p>
            <a:r>
              <a:rPr lang="en-US" dirty="0">
                <a:solidFill>
                  <a:schemeClr val="tx1"/>
                </a:solidFill>
              </a:rPr>
              <a:t>- 📊 Group and summarize</a:t>
            </a:r>
          </a:p>
          <a:p>
            <a:r>
              <a:rPr lang="en-US" dirty="0">
                <a:solidFill>
                  <a:schemeClr val="tx1"/>
                </a:solidFill>
              </a:rPr>
              <a:t>- 🧼 Clean messy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0D64783-0B21-4845-9BB6-4F690B096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 useBgFill="1">
        <p:nvSpPr>
          <p:cNvPr id="10" name="Snip Single Corner Rectangle 17">
            <a:extLst>
              <a:ext uri="{FF2B5EF4-FFF2-40B4-BE49-F238E27FC236}">
                <a16:creationId xmlns:a16="http://schemas.microsoft.com/office/drawing/2014/main" id="{500E751B-C75E-409D-8E55-2C95DF86A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9141618" cy="6857999"/>
          </a:xfrm>
          <a:prstGeom prst="snip1Rect">
            <a:avLst>
              <a:gd name="adj" fmla="val 38352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4487332"/>
            <a:ext cx="6400800" cy="1507067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🌍 Real-World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685800"/>
            <a:ext cx="6400800" cy="3615267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- 🏦 Finance: Balances, fees, transfers</a:t>
            </a:r>
          </a:p>
          <a:p>
            <a:r>
              <a:rPr lang="en-US">
                <a:solidFill>
                  <a:schemeClr val="tx1"/>
                </a:solidFill>
              </a:rPr>
              <a:t>- 🧬 Health: Patient metrics</a:t>
            </a:r>
          </a:p>
          <a:p>
            <a:r>
              <a:rPr lang="en-US">
                <a:solidFill>
                  <a:schemeClr val="tx1"/>
                </a:solidFill>
              </a:rPr>
              <a:t>- 🛍️ E-Commerce: Sales, inventory</a:t>
            </a:r>
          </a:p>
          <a:p>
            <a:r>
              <a:rPr lang="en-US">
                <a:solidFill>
                  <a:schemeClr val="tx1"/>
                </a:solidFill>
              </a:rPr>
              <a:t>- 📈 Data Science: Clean + feed into ML models</a:t>
            </a:r>
          </a:p>
          <a:p>
            <a:r>
              <a:rPr lang="en-US">
                <a:solidFill>
                  <a:schemeClr val="tx1"/>
                </a:solidFill>
              </a:rPr>
              <a:t>- 🌐 APIs: Transform API responses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ADF2543-1B6F-4FBC-A7AF-53A0430E0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485244"/>
            <a:ext cx="6400800" cy="1507067"/>
          </a:xfrm>
        </p:spPr>
        <p:txBody>
          <a:bodyPr>
            <a:normAutofit/>
          </a:bodyPr>
          <a:lstStyle/>
          <a:p>
            <a:r>
              <a:t>🧱 Series vs DataFrame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0A6E81-6B71-43DF-877B-E964A9A4C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963333"/>
            <a:ext cx="2236395" cy="3208867"/>
            <a:chOff x="9206969" y="2963333"/>
            <a:chExt cx="2981858" cy="3208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E35C3AD-357F-4004-A3F3-2D4EAF34A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37B6032-0A70-4F26-A9A3-B4D60DF11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E192CE3-3DD1-448F-93BE-42983DA0D5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6D3DA09-5C72-4562-BEDE-1937DF87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6ACA7CA-2A20-49D7-9053-E076463D7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2068511"/>
            <a:ext cx="6400800" cy="3615267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- Series = 1D column</a:t>
            </a:r>
          </a:p>
          <a:p>
            <a:r>
              <a:rPr lang="en-US">
                <a:solidFill>
                  <a:schemeClr val="tx1"/>
                </a:solidFill>
              </a:rPr>
              <a:t>- DataFrame = 2D table</a:t>
            </a:r>
          </a:p>
          <a:p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Examples:</a:t>
            </a:r>
          </a:p>
          <a:p>
            <a:r>
              <a:rPr lang="en-US">
                <a:solidFill>
                  <a:schemeClr val="tx1"/>
                </a:solidFill>
              </a:rPr>
              <a:t>  pd.Series([10, 20, 30])</a:t>
            </a:r>
          </a:p>
          <a:p>
            <a:r>
              <a:rPr lang="en-US">
                <a:solidFill>
                  <a:schemeClr val="tx1"/>
                </a:solidFill>
              </a:rPr>
              <a:t>  pd.DataFrame({'A': [1, 2], 'B': [3, 4]})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F4E830A-06F9-4EAA-9E65-110CF2421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81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iant panda">
            <a:extLst>
              <a:ext uri="{FF2B5EF4-FFF2-40B4-BE49-F238E27FC236}">
                <a16:creationId xmlns:a16="http://schemas.microsoft.com/office/drawing/2014/main" id="{BABEE297-9101-C681-EE8A-D4CC1B63B6F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r="28667" b="1"/>
          <a:stretch/>
        </p:blipFill>
        <p:spPr>
          <a:xfrm>
            <a:off x="2380" y="10"/>
            <a:ext cx="914400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4759" y="4904191"/>
            <a:ext cx="6400800" cy="1507067"/>
          </a:xfrm>
        </p:spPr>
        <p:txBody>
          <a:bodyPr>
            <a:normAutofit/>
          </a:bodyPr>
          <a:lstStyle/>
          <a:p>
            <a:r>
              <a:rPr dirty="0"/>
              <a:t>📂 Load and Inspect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4183" y="322729"/>
            <a:ext cx="6400800" cy="361526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import pandas as pd</a:t>
            </a:r>
          </a:p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# Load CSV</a:t>
            </a:r>
          </a:p>
          <a:p>
            <a:r>
              <a:rPr lang="en-US" b="1" dirty="0" err="1">
                <a:solidFill>
                  <a:schemeClr val="tx1"/>
                </a:solidFill>
              </a:rPr>
              <a:t>df</a:t>
            </a:r>
            <a:r>
              <a:rPr lang="en-US" b="1" dirty="0">
                <a:solidFill>
                  <a:schemeClr val="tx1"/>
                </a:solidFill>
              </a:rPr>
              <a:t> = </a:t>
            </a:r>
            <a:r>
              <a:rPr lang="en-US" b="1" dirty="0" err="1">
                <a:solidFill>
                  <a:schemeClr val="tx1"/>
                </a:solidFill>
              </a:rPr>
              <a:t>pd.read_csv</a:t>
            </a:r>
            <a:r>
              <a:rPr lang="en-US" b="1" dirty="0">
                <a:solidFill>
                  <a:schemeClr val="tx1"/>
                </a:solidFill>
              </a:rPr>
              <a:t>('data.csv')</a:t>
            </a:r>
          </a:p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# Peek at data</a:t>
            </a:r>
          </a:p>
          <a:p>
            <a:r>
              <a:rPr lang="en-US" b="1" dirty="0">
                <a:solidFill>
                  <a:schemeClr val="tx1"/>
                </a:solidFill>
              </a:rPr>
              <a:t>print(</a:t>
            </a:r>
            <a:r>
              <a:rPr lang="en-US" b="1" dirty="0" err="1">
                <a:solidFill>
                  <a:schemeClr val="tx1"/>
                </a:solidFill>
              </a:rPr>
              <a:t>df.head</a:t>
            </a:r>
            <a:r>
              <a:rPr lang="en-US" b="1" dirty="0">
                <a:solidFill>
                  <a:schemeClr val="tx1"/>
                </a:solidFill>
              </a:rPr>
              <a:t>())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ADF2543-1B6F-4FBC-A7AF-53A0430E0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485244"/>
            <a:ext cx="6400800" cy="1507067"/>
          </a:xfrm>
        </p:spPr>
        <p:txBody>
          <a:bodyPr>
            <a:normAutofit/>
          </a:bodyPr>
          <a:lstStyle/>
          <a:p>
            <a:r>
              <a:rPr lang="en-US"/>
              <a:t>🔍 Filter Rows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80A6E81-6B71-43DF-877B-E964A9A4C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963333"/>
            <a:ext cx="2236395" cy="3208867"/>
            <a:chOff x="9206969" y="2963333"/>
            <a:chExt cx="2981858" cy="3208867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E35C3AD-357F-4004-A3F3-2D4EAF34A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7B6032-0A70-4F26-A9A3-B4D60DF11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E192CE3-3DD1-448F-93BE-42983DA0D5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6D3DA09-5C72-4562-BEDE-1937DF87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6ACA7CA-2A20-49D7-9053-E076463D7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2068511"/>
            <a:ext cx="6400800" cy="3615267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# Get customers with balance &gt; $500</a:t>
            </a:r>
          </a:p>
          <a:p>
            <a:r>
              <a:rPr lang="en-US">
                <a:solidFill>
                  <a:schemeClr val="tx1"/>
                </a:solidFill>
              </a:rPr>
              <a:t>rich = df[df['Balance'] &gt; 500]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nip Diagonal Corner Rectangle 6">
            <a:extLst>
              <a:ext uri="{FF2B5EF4-FFF2-40B4-BE49-F238E27FC236}">
                <a16:creationId xmlns:a16="http://schemas.microsoft.com/office/drawing/2014/main" id="{AD2D45C7-2E37-44FD-AC77-116CD14B9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3" y="2"/>
            <a:ext cx="9143307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0" name="Snip Single Corner Rectangle 17">
            <a:extLst>
              <a:ext uri="{FF2B5EF4-FFF2-40B4-BE49-F238E27FC236}">
                <a16:creationId xmlns:a16="http://schemas.microsoft.com/office/drawing/2014/main" id="{1FF88480-2CF1-4C54-8CE3-2CA9CD9FF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9141618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4487332"/>
            <a:ext cx="6400800" cy="1507067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chemeClr val="tx2"/>
                </a:solidFill>
              </a:rPr>
              <a:t>➕ Add New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8" y="685800"/>
            <a:ext cx="8066065" cy="361526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# Add 15% tax to balance</a:t>
            </a:r>
          </a:p>
          <a:p>
            <a:r>
              <a:rPr lang="en-US" b="1" dirty="0" err="1">
                <a:solidFill>
                  <a:schemeClr val="tx1"/>
                </a:solidFill>
              </a:rPr>
              <a:t>df</a:t>
            </a:r>
            <a:r>
              <a:rPr lang="en-US" b="1" dirty="0">
                <a:solidFill>
                  <a:schemeClr val="tx1"/>
                </a:solidFill>
              </a:rPr>
              <a:t>['</a:t>
            </a:r>
            <a:r>
              <a:rPr lang="en-US" b="1" dirty="0" err="1">
                <a:solidFill>
                  <a:schemeClr val="tx1"/>
                </a:solidFill>
              </a:rPr>
              <a:t>AfterTax</a:t>
            </a:r>
            <a:r>
              <a:rPr lang="en-US" b="1" dirty="0">
                <a:solidFill>
                  <a:schemeClr val="tx1"/>
                </a:solidFill>
              </a:rPr>
              <a:t>'] = </a:t>
            </a:r>
            <a:r>
              <a:rPr lang="en-US" b="1" dirty="0" err="1">
                <a:solidFill>
                  <a:schemeClr val="tx1"/>
                </a:solidFill>
              </a:rPr>
              <a:t>df</a:t>
            </a:r>
            <a:r>
              <a:rPr lang="en-US" b="1" dirty="0">
                <a:solidFill>
                  <a:schemeClr val="tx1"/>
                </a:solidFill>
              </a:rPr>
              <a:t>['Balance'] * 0.85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0D64783-0B21-4845-9BB6-4F690B096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 useBgFill="1">
        <p:nvSpPr>
          <p:cNvPr id="10" name="Snip Single Corner Rectangle 17">
            <a:extLst>
              <a:ext uri="{FF2B5EF4-FFF2-40B4-BE49-F238E27FC236}">
                <a16:creationId xmlns:a16="http://schemas.microsoft.com/office/drawing/2014/main" id="{500E751B-C75E-409D-8E55-2C95DF86A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9141618" cy="6857999"/>
          </a:xfrm>
          <a:prstGeom prst="snip1Rect">
            <a:avLst>
              <a:gd name="adj" fmla="val 38352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4487332"/>
            <a:ext cx="6400800" cy="1507067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📊 Group and Summarize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685800"/>
            <a:ext cx="6400800" cy="3615267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# Group by account type</a:t>
            </a:r>
          </a:p>
          <a:p>
            <a:r>
              <a:rPr lang="en-US">
                <a:solidFill>
                  <a:schemeClr val="tx1"/>
                </a:solidFill>
              </a:rPr>
              <a:t>summary = df.groupby('Type')['Balance'].sum()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nip Diagonal Corner Rectangle 6">
            <a:extLst>
              <a:ext uri="{FF2B5EF4-FFF2-40B4-BE49-F238E27FC236}">
                <a16:creationId xmlns:a16="http://schemas.microsoft.com/office/drawing/2014/main" id="{AD2D45C7-2E37-44FD-AC77-116CD14B9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3" y="2"/>
            <a:ext cx="9143307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0" name="Snip Single Corner Rectangle 17">
            <a:extLst>
              <a:ext uri="{FF2B5EF4-FFF2-40B4-BE49-F238E27FC236}">
                <a16:creationId xmlns:a16="http://schemas.microsoft.com/office/drawing/2014/main" id="{1FF88480-2CF1-4C54-8CE3-2CA9CD9FF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9141618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4487332"/>
            <a:ext cx="6400800" cy="1507067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chemeClr val="tx2"/>
                </a:solidFill>
              </a:rPr>
              <a:t>🧼 Handle Missing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685800"/>
            <a:ext cx="6400800" cy="361526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# Fill missing with 0</a:t>
            </a:r>
          </a:p>
          <a:p>
            <a:r>
              <a:rPr lang="en-US" b="1" dirty="0" err="1">
                <a:solidFill>
                  <a:schemeClr val="tx1"/>
                </a:solidFill>
              </a:rPr>
              <a:t>df.fillna</a:t>
            </a:r>
            <a:r>
              <a:rPr lang="en-US" b="1" dirty="0">
                <a:solidFill>
                  <a:schemeClr val="tx1"/>
                </a:solidFill>
              </a:rPr>
              <a:t>(0)</a:t>
            </a:r>
          </a:p>
          <a:p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# Drop rows with missing values</a:t>
            </a:r>
          </a:p>
          <a:p>
            <a:r>
              <a:rPr lang="en-US" b="1" dirty="0" err="1">
                <a:solidFill>
                  <a:schemeClr val="tx1"/>
                </a:solidFill>
              </a:rPr>
              <a:t>df.dropna</a:t>
            </a:r>
            <a:r>
              <a:rPr lang="en-US" b="1" dirty="0">
                <a:solidFill>
                  <a:schemeClr val="tx1"/>
                </a:solidFill>
              </a:rPr>
              <a:t>()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0D64783-0B21-4845-9BB6-4F690B096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 useBgFill="1">
        <p:nvSpPr>
          <p:cNvPr id="10" name="Snip Single Corner Rectangle 17">
            <a:extLst>
              <a:ext uri="{FF2B5EF4-FFF2-40B4-BE49-F238E27FC236}">
                <a16:creationId xmlns:a16="http://schemas.microsoft.com/office/drawing/2014/main" id="{500E751B-C75E-409D-8E55-2C95DF86A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9141618" cy="6857999"/>
          </a:xfrm>
          <a:prstGeom prst="snip1Rect">
            <a:avLst>
              <a:gd name="adj" fmla="val 38352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4487332"/>
            <a:ext cx="6400800" cy="1507067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2"/>
                </a:solidFill>
              </a:rPr>
              <a:t>💾 Export Cleaned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685800"/>
            <a:ext cx="6400800" cy="3615267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# Save to new file</a:t>
            </a:r>
          </a:p>
          <a:p>
            <a:r>
              <a:rPr lang="en-US">
                <a:solidFill>
                  <a:schemeClr val="tx1"/>
                </a:solidFill>
              </a:rPr>
              <a:t>df.to_csv('cleaned_data.csv', index=False)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ADF2543-1B6F-4FBC-A7AF-53A0430E0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485244"/>
            <a:ext cx="6400800" cy="1507067"/>
          </a:xfrm>
        </p:spPr>
        <p:txBody>
          <a:bodyPr>
            <a:normAutofit/>
          </a:bodyPr>
          <a:lstStyle/>
          <a:p>
            <a:r>
              <a:t>🧑‍💻 Code_A_Long: Get Started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0A6E81-6B71-43DF-877B-E964A9A4C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963333"/>
            <a:ext cx="2236395" cy="3208867"/>
            <a:chOff x="9206969" y="2963333"/>
            <a:chExt cx="2981858" cy="3208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E35C3AD-357F-4004-A3F3-2D4EAF34A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37B6032-0A70-4F26-A9A3-B4D60DF11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E192CE3-3DD1-448F-93BE-42983DA0D5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6D3DA09-5C72-4562-BEDE-1937DF87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6ACA7CA-2A20-49D7-9053-E076463D7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2068511"/>
            <a:ext cx="6400800" cy="3615267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1. Create a file named accounts.csv</a:t>
            </a:r>
          </a:p>
          <a:p>
            <a:r>
              <a:rPr lang="en-US">
                <a:solidFill>
                  <a:schemeClr val="tx1"/>
                </a:solidFill>
              </a:rPr>
              <a:t>2. Include columns: Name, Balance, Type</a:t>
            </a:r>
          </a:p>
          <a:p>
            <a:r>
              <a:rPr lang="en-US">
                <a:solidFill>
                  <a:schemeClr val="tx1"/>
                </a:solidFill>
              </a:rPr>
              <a:t>3. Open Python and import pandas</a:t>
            </a:r>
          </a:p>
          <a:p>
            <a:r>
              <a:rPr lang="en-US">
                <a:solidFill>
                  <a:schemeClr val="tx1"/>
                </a:solidFill>
              </a:rPr>
              <a:t>4. Follow each example in this deck step by step!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Summary: What You Can Do With Pandas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Clean messy datasets</a:t>
            </a:r>
          </a:p>
          <a:p>
            <a:r>
              <a:t>- Create new insights</a:t>
            </a:r>
          </a:p>
          <a:p>
            <a:r>
              <a:t>- Export useful reports</a:t>
            </a:r>
          </a:p>
          <a:p>
            <a:r>
              <a:t>- Automate data workflows</a:t>
            </a:r>
          </a:p>
          <a:p>
            <a:r>
              <a:t>- Power your ML models!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Custom 1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21</TotalTime>
  <Words>415</Words>
  <Application>Microsoft Office PowerPoint</Application>
  <PresentationFormat>On-screen Show (4:3)</PresentationFormat>
  <Paragraphs>63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Century Gothic</vt:lpstr>
      <vt:lpstr>Wingdings 3</vt:lpstr>
      <vt:lpstr>Slice</vt:lpstr>
      <vt:lpstr>📊 Pandas: The Python Powerhouse for Data</vt:lpstr>
      <vt:lpstr>🐼 What are Pandas?</vt:lpstr>
      <vt:lpstr>✨ What Makes Pandas Special?</vt:lpstr>
      <vt:lpstr>🌍 Real-World Use Cases</vt:lpstr>
      <vt:lpstr>🧱 Series vs DataFrame</vt:lpstr>
      <vt:lpstr>📂 Load and Inspect Data</vt:lpstr>
      <vt:lpstr>🔍 Filter Rows</vt:lpstr>
      <vt:lpstr>➕ Add New Columns</vt:lpstr>
      <vt:lpstr>📊 Group and Summarize</vt:lpstr>
      <vt:lpstr>🧼 Handle Missing Data</vt:lpstr>
      <vt:lpstr>💾 Export Cleaned Data</vt:lpstr>
      <vt:lpstr>🧑‍💻 Code_A_Long: Get Started</vt:lpstr>
      <vt:lpstr>🎯 Summary: What You Can Do With Pandas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Frank Mora</cp:lastModifiedBy>
  <cp:revision>2</cp:revision>
  <dcterms:created xsi:type="dcterms:W3CDTF">2013-01-27T09:14:16Z</dcterms:created>
  <dcterms:modified xsi:type="dcterms:W3CDTF">2025-04-29T01:43:24Z</dcterms:modified>
  <cp:category/>
</cp:coreProperties>
</file>