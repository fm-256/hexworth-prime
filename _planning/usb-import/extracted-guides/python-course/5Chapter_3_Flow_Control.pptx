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9" r:id="rId13"/>
    <p:sldId id="280" r:id="rId14"/>
    <p:sldId id="268" r:id="rId15"/>
    <p:sldId id="269" r:id="rId16"/>
    <p:sldId id="270" r:id="rId17"/>
    <p:sldId id="271" r:id="rId18"/>
    <p:sldId id="281" r:id="rId19"/>
    <p:sldId id="272" r:id="rId20"/>
    <p:sldId id="273" r:id="rId21"/>
    <p:sldId id="282" r:id="rId22"/>
    <p:sldId id="283" r:id="rId23"/>
    <p:sldId id="274" r:id="rId24"/>
    <p:sldId id="275" r:id="rId25"/>
    <p:sldId id="277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135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6F9E3D-59EF-49CB-84D7-BF31B75BBDDD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FDC9567-9D98-44D5-B52D-95B899AF17B5}">
      <dgm:prSet/>
      <dgm:spPr/>
      <dgm:t>
        <a:bodyPr/>
        <a:lstStyle/>
        <a:p>
          <a:r>
            <a:rPr lang="en-US"/>
            <a:t>Flow control determines the order in which instructions are executed.</a:t>
          </a:r>
        </a:p>
      </dgm:t>
    </dgm:pt>
    <dgm:pt modelId="{39587AEE-C0E6-4E50-8130-D6968976EFBD}" type="parTrans" cxnId="{14E94048-8F77-424E-ABFC-6FFCD6B32608}">
      <dgm:prSet/>
      <dgm:spPr/>
      <dgm:t>
        <a:bodyPr/>
        <a:lstStyle/>
        <a:p>
          <a:endParaRPr lang="en-US"/>
        </a:p>
      </dgm:t>
    </dgm:pt>
    <dgm:pt modelId="{7B767418-8C03-4DE9-B508-2368E6A4E640}" type="sibTrans" cxnId="{14E94048-8F77-424E-ABFC-6FFCD6B32608}">
      <dgm:prSet/>
      <dgm:spPr/>
      <dgm:t>
        <a:bodyPr/>
        <a:lstStyle/>
        <a:p>
          <a:endParaRPr lang="en-US"/>
        </a:p>
      </dgm:t>
    </dgm:pt>
    <dgm:pt modelId="{764BA44F-0584-43C7-A43A-851997D58D70}">
      <dgm:prSet/>
      <dgm:spPr/>
      <dgm:t>
        <a:bodyPr/>
        <a:lstStyle/>
        <a:p>
          <a:r>
            <a:rPr lang="en-US" dirty="0"/>
            <a:t>Analogy: writing a recipe </a:t>
          </a:r>
        </a:p>
      </dgm:t>
    </dgm:pt>
    <dgm:pt modelId="{24AE4048-EB17-4B20-B9CD-382199B42591}" type="parTrans" cxnId="{69A2857F-53DD-4440-8F11-4A02B64C659C}">
      <dgm:prSet/>
      <dgm:spPr/>
      <dgm:t>
        <a:bodyPr/>
        <a:lstStyle/>
        <a:p>
          <a:endParaRPr lang="en-US"/>
        </a:p>
      </dgm:t>
    </dgm:pt>
    <dgm:pt modelId="{08837CFB-2CC1-4387-8DAB-AB862788AD2D}" type="sibTrans" cxnId="{69A2857F-53DD-4440-8F11-4A02B64C659C}">
      <dgm:prSet/>
      <dgm:spPr/>
      <dgm:t>
        <a:bodyPr/>
        <a:lstStyle/>
        <a:p>
          <a:endParaRPr lang="en-US"/>
        </a:p>
      </dgm:t>
    </dgm:pt>
    <dgm:pt modelId="{FDD98575-6E5A-4863-82B7-F6095964D6F9}">
      <dgm:prSet/>
      <dgm:spPr/>
      <dgm:t>
        <a:bodyPr/>
        <a:lstStyle/>
        <a:p>
          <a:r>
            <a:rPr lang="en-US" dirty="0"/>
            <a:t>— you follow steps, make decisions, and repeat instructions when needed.</a:t>
          </a:r>
        </a:p>
      </dgm:t>
    </dgm:pt>
    <dgm:pt modelId="{CD632FFF-7F9A-4A08-8A98-47546BD763B8}" type="parTrans" cxnId="{52EDCCA0-74E2-4B41-9353-72E1813B8C1B}">
      <dgm:prSet/>
      <dgm:spPr/>
      <dgm:t>
        <a:bodyPr/>
        <a:lstStyle/>
        <a:p>
          <a:endParaRPr lang="en-US"/>
        </a:p>
      </dgm:t>
    </dgm:pt>
    <dgm:pt modelId="{2B644489-757A-403E-AC7E-530DF2B60EA5}" type="sibTrans" cxnId="{52EDCCA0-74E2-4B41-9353-72E1813B8C1B}">
      <dgm:prSet/>
      <dgm:spPr/>
      <dgm:t>
        <a:bodyPr/>
        <a:lstStyle/>
        <a:p>
          <a:endParaRPr lang="en-US"/>
        </a:p>
      </dgm:t>
    </dgm:pt>
    <dgm:pt modelId="{54280C12-D7F7-4290-9281-DB492724092E}" type="pres">
      <dgm:prSet presAssocID="{7B6F9E3D-59EF-49CB-84D7-BF31B75BBDDD}" presName="vert0" presStyleCnt="0">
        <dgm:presLayoutVars>
          <dgm:dir/>
          <dgm:animOne val="branch"/>
          <dgm:animLvl val="lvl"/>
        </dgm:presLayoutVars>
      </dgm:prSet>
      <dgm:spPr/>
    </dgm:pt>
    <dgm:pt modelId="{62400951-600D-4D38-9D52-D8C958B85013}" type="pres">
      <dgm:prSet presAssocID="{DFDC9567-9D98-44D5-B52D-95B899AF17B5}" presName="thickLine" presStyleLbl="alignNode1" presStyleIdx="0" presStyleCnt="3"/>
      <dgm:spPr/>
    </dgm:pt>
    <dgm:pt modelId="{BF0BC58F-515F-454A-A80C-FB15D96031DF}" type="pres">
      <dgm:prSet presAssocID="{DFDC9567-9D98-44D5-B52D-95B899AF17B5}" presName="horz1" presStyleCnt="0"/>
      <dgm:spPr/>
    </dgm:pt>
    <dgm:pt modelId="{8FD531BF-FC86-4916-A869-C496132541CE}" type="pres">
      <dgm:prSet presAssocID="{DFDC9567-9D98-44D5-B52D-95B899AF17B5}" presName="tx1" presStyleLbl="revTx" presStyleIdx="0" presStyleCnt="3"/>
      <dgm:spPr/>
    </dgm:pt>
    <dgm:pt modelId="{4E21E56B-6B53-448E-B135-7E4DFB0AD7EB}" type="pres">
      <dgm:prSet presAssocID="{DFDC9567-9D98-44D5-B52D-95B899AF17B5}" presName="vert1" presStyleCnt="0"/>
      <dgm:spPr/>
    </dgm:pt>
    <dgm:pt modelId="{86A5E0EE-4D6B-4D3D-9FAD-98370014F5BE}" type="pres">
      <dgm:prSet presAssocID="{764BA44F-0584-43C7-A43A-851997D58D70}" presName="thickLine" presStyleLbl="alignNode1" presStyleIdx="1" presStyleCnt="3"/>
      <dgm:spPr/>
    </dgm:pt>
    <dgm:pt modelId="{37595EC4-1D7B-4619-A66E-8E729E0A0BC8}" type="pres">
      <dgm:prSet presAssocID="{764BA44F-0584-43C7-A43A-851997D58D70}" presName="horz1" presStyleCnt="0"/>
      <dgm:spPr/>
    </dgm:pt>
    <dgm:pt modelId="{14E663DD-188D-476B-9B49-BB4844F9B4F1}" type="pres">
      <dgm:prSet presAssocID="{764BA44F-0584-43C7-A43A-851997D58D70}" presName="tx1" presStyleLbl="revTx" presStyleIdx="1" presStyleCnt="3"/>
      <dgm:spPr/>
    </dgm:pt>
    <dgm:pt modelId="{00442336-8B41-4C9A-AB87-9B193540ED6A}" type="pres">
      <dgm:prSet presAssocID="{764BA44F-0584-43C7-A43A-851997D58D70}" presName="vert1" presStyleCnt="0"/>
      <dgm:spPr/>
    </dgm:pt>
    <dgm:pt modelId="{A10C2A1B-E48A-4A07-9EAE-C85E76B9ACA4}" type="pres">
      <dgm:prSet presAssocID="{FDD98575-6E5A-4863-82B7-F6095964D6F9}" presName="thickLine" presStyleLbl="alignNode1" presStyleIdx="2" presStyleCnt="3"/>
      <dgm:spPr/>
    </dgm:pt>
    <dgm:pt modelId="{7E85EA40-9D4F-4C3E-8528-AEFD10BD5FC8}" type="pres">
      <dgm:prSet presAssocID="{FDD98575-6E5A-4863-82B7-F6095964D6F9}" presName="horz1" presStyleCnt="0"/>
      <dgm:spPr/>
    </dgm:pt>
    <dgm:pt modelId="{792C397A-AF85-4066-A232-28996DA9A48A}" type="pres">
      <dgm:prSet presAssocID="{FDD98575-6E5A-4863-82B7-F6095964D6F9}" presName="tx1" presStyleLbl="revTx" presStyleIdx="2" presStyleCnt="3"/>
      <dgm:spPr/>
    </dgm:pt>
    <dgm:pt modelId="{48ECBBB4-8B7A-4320-842E-A5B178EF01BD}" type="pres">
      <dgm:prSet presAssocID="{FDD98575-6E5A-4863-82B7-F6095964D6F9}" presName="vert1" presStyleCnt="0"/>
      <dgm:spPr/>
    </dgm:pt>
  </dgm:ptLst>
  <dgm:cxnLst>
    <dgm:cxn modelId="{C9AD763E-4581-41B3-B957-1218E04A8D8A}" type="presOf" srcId="{FDD98575-6E5A-4863-82B7-F6095964D6F9}" destId="{792C397A-AF85-4066-A232-28996DA9A48A}" srcOrd="0" destOrd="0" presId="urn:microsoft.com/office/officeart/2008/layout/LinedList"/>
    <dgm:cxn modelId="{14E94048-8F77-424E-ABFC-6FFCD6B32608}" srcId="{7B6F9E3D-59EF-49CB-84D7-BF31B75BBDDD}" destId="{DFDC9567-9D98-44D5-B52D-95B899AF17B5}" srcOrd="0" destOrd="0" parTransId="{39587AEE-C0E6-4E50-8130-D6968976EFBD}" sibTransId="{7B767418-8C03-4DE9-B508-2368E6A4E640}"/>
    <dgm:cxn modelId="{69A2857F-53DD-4440-8F11-4A02B64C659C}" srcId="{7B6F9E3D-59EF-49CB-84D7-BF31B75BBDDD}" destId="{764BA44F-0584-43C7-A43A-851997D58D70}" srcOrd="1" destOrd="0" parTransId="{24AE4048-EB17-4B20-B9CD-382199B42591}" sibTransId="{08837CFB-2CC1-4387-8DAB-AB862788AD2D}"/>
    <dgm:cxn modelId="{38355E97-B0C8-4D2E-B511-6AA24332C168}" type="presOf" srcId="{7B6F9E3D-59EF-49CB-84D7-BF31B75BBDDD}" destId="{54280C12-D7F7-4290-9281-DB492724092E}" srcOrd="0" destOrd="0" presId="urn:microsoft.com/office/officeart/2008/layout/LinedList"/>
    <dgm:cxn modelId="{52EDCCA0-74E2-4B41-9353-72E1813B8C1B}" srcId="{7B6F9E3D-59EF-49CB-84D7-BF31B75BBDDD}" destId="{FDD98575-6E5A-4863-82B7-F6095964D6F9}" srcOrd="2" destOrd="0" parTransId="{CD632FFF-7F9A-4A08-8A98-47546BD763B8}" sibTransId="{2B644489-757A-403E-AC7E-530DF2B60EA5}"/>
    <dgm:cxn modelId="{A26A9CEF-DC01-4583-AAE8-5869ED9A7C36}" type="presOf" srcId="{DFDC9567-9D98-44D5-B52D-95B899AF17B5}" destId="{8FD531BF-FC86-4916-A869-C496132541CE}" srcOrd="0" destOrd="0" presId="urn:microsoft.com/office/officeart/2008/layout/LinedList"/>
    <dgm:cxn modelId="{3B27ACF7-6486-4162-9766-B5752A7B0A90}" type="presOf" srcId="{764BA44F-0584-43C7-A43A-851997D58D70}" destId="{14E663DD-188D-476B-9B49-BB4844F9B4F1}" srcOrd="0" destOrd="0" presId="urn:microsoft.com/office/officeart/2008/layout/LinedList"/>
    <dgm:cxn modelId="{0E2AC890-1F00-4509-A870-68FED026891D}" type="presParOf" srcId="{54280C12-D7F7-4290-9281-DB492724092E}" destId="{62400951-600D-4D38-9D52-D8C958B85013}" srcOrd="0" destOrd="0" presId="urn:microsoft.com/office/officeart/2008/layout/LinedList"/>
    <dgm:cxn modelId="{F2953DD0-3F64-4AE6-A686-8944184B8B77}" type="presParOf" srcId="{54280C12-D7F7-4290-9281-DB492724092E}" destId="{BF0BC58F-515F-454A-A80C-FB15D96031DF}" srcOrd="1" destOrd="0" presId="urn:microsoft.com/office/officeart/2008/layout/LinedList"/>
    <dgm:cxn modelId="{8F819168-F0B8-42AD-ADD5-75E4DF939153}" type="presParOf" srcId="{BF0BC58F-515F-454A-A80C-FB15D96031DF}" destId="{8FD531BF-FC86-4916-A869-C496132541CE}" srcOrd="0" destOrd="0" presId="urn:microsoft.com/office/officeart/2008/layout/LinedList"/>
    <dgm:cxn modelId="{CEE14CFE-9EA7-44A5-AB0F-8F512D541F7B}" type="presParOf" srcId="{BF0BC58F-515F-454A-A80C-FB15D96031DF}" destId="{4E21E56B-6B53-448E-B135-7E4DFB0AD7EB}" srcOrd="1" destOrd="0" presId="urn:microsoft.com/office/officeart/2008/layout/LinedList"/>
    <dgm:cxn modelId="{7922812C-CFFC-4995-B2B4-3464091A6666}" type="presParOf" srcId="{54280C12-D7F7-4290-9281-DB492724092E}" destId="{86A5E0EE-4D6B-4D3D-9FAD-98370014F5BE}" srcOrd="2" destOrd="0" presId="urn:microsoft.com/office/officeart/2008/layout/LinedList"/>
    <dgm:cxn modelId="{B9A5368D-B8C0-43FB-B965-522136A6CE29}" type="presParOf" srcId="{54280C12-D7F7-4290-9281-DB492724092E}" destId="{37595EC4-1D7B-4619-A66E-8E729E0A0BC8}" srcOrd="3" destOrd="0" presId="urn:microsoft.com/office/officeart/2008/layout/LinedList"/>
    <dgm:cxn modelId="{0F542BC6-6CC1-4862-9B71-553054A2E6EE}" type="presParOf" srcId="{37595EC4-1D7B-4619-A66E-8E729E0A0BC8}" destId="{14E663DD-188D-476B-9B49-BB4844F9B4F1}" srcOrd="0" destOrd="0" presId="urn:microsoft.com/office/officeart/2008/layout/LinedList"/>
    <dgm:cxn modelId="{D53CC938-50EB-4291-8606-59067B621BC5}" type="presParOf" srcId="{37595EC4-1D7B-4619-A66E-8E729E0A0BC8}" destId="{00442336-8B41-4C9A-AB87-9B193540ED6A}" srcOrd="1" destOrd="0" presId="urn:microsoft.com/office/officeart/2008/layout/LinedList"/>
    <dgm:cxn modelId="{6457975A-75FD-4910-9D3D-84DF2783C5C0}" type="presParOf" srcId="{54280C12-D7F7-4290-9281-DB492724092E}" destId="{A10C2A1B-E48A-4A07-9EAE-C85E76B9ACA4}" srcOrd="4" destOrd="0" presId="urn:microsoft.com/office/officeart/2008/layout/LinedList"/>
    <dgm:cxn modelId="{C2E0F5DC-4539-4E21-BBBC-59C9257FDA49}" type="presParOf" srcId="{54280C12-D7F7-4290-9281-DB492724092E}" destId="{7E85EA40-9D4F-4C3E-8528-AEFD10BD5FC8}" srcOrd="5" destOrd="0" presId="urn:microsoft.com/office/officeart/2008/layout/LinedList"/>
    <dgm:cxn modelId="{2000EB0B-5047-4A6F-BDC3-37733E54AF89}" type="presParOf" srcId="{7E85EA40-9D4F-4C3E-8528-AEFD10BD5FC8}" destId="{792C397A-AF85-4066-A232-28996DA9A48A}" srcOrd="0" destOrd="0" presId="urn:microsoft.com/office/officeart/2008/layout/LinedList"/>
    <dgm:cxn modelId="{314287FC-63A1-43EF-9166-1EB165065C3B}" type="presParOf" srcId="{7E85EA40-9D4F-4C3E-8528-AEFD10BD5FC8}" destId="{48ECBBB4-8B7A-4320-842E-A5B178EF01B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6DE8DF4-F1C9-43F5-87BA-F23A92ECD89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AFA8619-D63F-4F9B-A947-CE63455C36F7}">
      <dgm:prSet/>
      <dgm:spPr/>
      <dgm:t>
        <a:bodyPr/>
        <a:lstStyle/>
        <a:p>
          <a:r>
            <a:rPr lang="en-US"/>
            <a:t>Used to combine conditions:</a:t>
          </a:r>
        </a:p>
      </dgm:t>
    </dgm:pt>
    <dgm:pt modelId="{AAF7F0CC-6833-43FC-85DA-2B4F45364718}" type="parTrans" cxnId="{01967DB5-6704-44AF-8695-5937C49A268F}">
      <dgm:prSet/>
      <dgm:spPr/>
      <dgm:t>
        <a:bodyPr/>
        <a:lstStyle/>
        <a:p>
          <a:endParaRPr lang="en-US"/>
        </a:p>
      </dgm:t>
    </dgm:pt>
    <dgm:pt modelId="{12C40BB7-CA64-4E92-859D-30B0C9194039}" type="sibTrans" cxnId="{01967DB5-6704-44AF-8695-5937C49A268F}">
      <dgm:prSet/>
      <dgm:spPr/>
      <dgm:t>
        <a:bodyPr/>
        <a:lstStyle/>
        <a:p>
          <a:endParaRPr lang="en-US"/>
        </a:p>
      </dgm:t>
    </dgm:pt>
    <dgm:pt modelId="{C6DBC811-82BD-4DF9-B607-DD8810BC2978}">
      <dgm:prSet/>
      <dgm:spPr/>
      <dgm:t>
        <a:bodyPr/>
        <a:lstStyle/>
        <a:p>
          <a:r>
            <a:rPr lang="en-US"/>
            <a:t>- and: both must be true</a:t>
          </a:r>
        </a:p>
      </dgm:t>
    </dgm:pt>
    <dgm:pt modelId="{C75ACA5D-1B7D-40B7-919E-4543B10E9819}" type="parTrans" cxnId="{11770643-D57C-4B0C-827E-AB841DC7FB36}">
      <dgm:prSet/>
      <dgm:spPr/>
      <dgm:t>
        <a:bodyPr/>
        <a:lstStyle/>
        <a:p>
          <a:endParaRPr lang="en-US"/>
        </a:p>
      </dgm:t>
    </dgm:pt>
    <dgm:pt modelId="{EDAF7023-41D7-40BE-A3FD-A2D38E622AEB}" type="sibTrans" cxnId="{11770643-D57C-4B0C-827E-AB841DC7FB36}">
      <dgm:prSet/>
      <dgm:spPr/>
      <dgm:t>
        <a:bodyPr/>
        <a:lstStyle/>
        <a:p>
          <a:endParaRPr lang="en-US"/>
        </a:p>
      </dgm:t>
    </dgm:pt>
    <dgm:pt modelId="{B17844D9-009C-49FA-9EBC-EE0508F26F76}">
      <dgm:prSet/>
      <dgm:spPr/>
      <dgm:t>
        <a:bodyPr/>
        <a:lstStyle/>
        <a:p>
          <a:r>
            <a:rPr lang="en-US"/>
            <a:t>- or: at least one must be true</a:t>
          </a:r>
        </a:p>
      </dgm:t>
    </dgm:pt>
    <dgm:pt modelId="{BB045F78-47E7-4B43-A850-2AB73FA02006}" type="parTrans" cxnId="{FA33D037-65FA-4664-A1F6-0A52FDAF78B3}">
      <dgm:prSet/>
      <dgm:spPr/>
      <dgm:t>
        <a:bodyPr/>
        <a:lstStyle/>
        <a:p>
          <a:endParaRPr lang="en-US"/>
        </a:p>
      </dgm:t>
    </dgm:pt>
    <dgm:pt modelId="{6C237490-3E48-473C-B983-3B088983EC68}" type="sibTrans" cxnId="{FA33D037-65FA-4664-A1F6-0A52FDAF78B3}">
      <dgm:prSet/>
      <dgm:spPr/>
      <dgm:t>
        <a:bodyPr/>
        <a:lstStyle/>
        <a:p>
          <a:endParaRPr lang="en-US"/>
        </a:p>
      </dgm:t>
    </dgm:pt>
    <dgm:pt modelId="{492E1DDC-313D-4A7A-9766-1A231DABBC09}">
      <dgm:prSet/>
      <dgm:spPr/>
      <dgm:t>
        <a:bodyPr/>
        <a:lstStyle/>
        <a:p>
          <a:r>
            <a:rPr lang="en-US"/>
            <a:t>- not: reverses the result</a:t>
          </a:r>
        </a:p>
      </dgm:t>
    </dgm:pt>
    <dgm:pt modelId="{BF0ABA22-B9DD-4D95-9B21-6DB9CA71722C}" type="parTrans" cxnId="{1FBED237-EFD0-4F35-85DC-EE63BC6B10B7}">
      <dgm:prSet/>
      <dgm:spPr/>
      <dgm:t>
        <a:bodyPr/>
        <a:lstStyle/>
        <a:p>
          <a:endParaRPr lang="en-US"/>
        </a:p>
      </dgm:t>
    </dgm:pt>
    <dgm:pt modelId="{9A41004C-2F7F-4AFB-B4F6-B290DC99DD5C}" type="sibTrans" cxnId="{1FBED237-EFD0-4F35-85DC-EE63BC6B10B7}">
      <dgm:prSet/>
      <dgm:spPr/>
      <dgm:t>
        <a:bodyPr/>
        <a:lstStyle/>
        <a:p>
          <a:endParaRPr lang="en-US"/>
        </a:p>
      </dgm:t>
    </dgm:pt>
    <dgm:pt modelId="{4BB95DA5-10B9-42DE-9934-D83526975149}" type="pres">
      <dgm:prSet presAssocID="{66DE8DF4-F1C9-43F5-87BA-F23A92ECD89C}" presName="linear" presStyleCnt="0">
        <dgm:presLayoutVars>
          <dgm:animLvl val="lvl"/>
          <dgm:resizeHandles val="exact"/>
        </dgm:presLayoutVars>
      </dgm:prSet>
      <dgm:spPr/>
    </dgm:pt>
    <dgm:pt modelId="{4CBBDBB2-E9D1-4B44-B140-B669A2C5B06B}" type="pres">
      <dgm:prSet presAssocID="{1AFA8619-D63F-4F9B-A947-CE63455C36F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5AF2A4F-C21A-4B4B-B3D8-D6E26D569D9D}" type="pres">
      <dgm:prSet presAssocID="{12C40BB7-CA64-4E92-859D-30B0C9194039}" presName="spacer" presStyleCnt="0"/>
      <dgm:spPr/>
    </dgm:pt>
    <dgm:pt modelId="{2F368A0D-6CA6-454B-96AC-F539CC8CCC7C}" type="pres">
      <dgm:prSet presAssocID="{C6DBC811-82BD-4DF9-B607-DD8810BC297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E94DD3E-5E05-46E9-B126-CA98B54A5B99}" type="pres">
      <dgm:prSet presAssocID="{EDAF7023-41D7-40BE-A3FD-A2D38E622AEB}" presName="spacer" presStyleCnt="0"/>
      <dgm:spPr/>
    </dgm:pt>
    <dgm:pt modelId="{657D17BB-029D-4C85-AAF4-B4FADEA5A743}" type="pres">
      <dgm:prSet presAssocID="{B17844D9-009C-49FA-9EBC-EE0508F26F7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52274FB-8D83-408F-A853-5F61BE92BBE9}" type="pres">
      <dgm:prSet presAssocID="{6C237490-3E48-473C-B983-3B088983EC68}" presName="spacer" presStyleCnt="0"/>
      <dgm:spPr/>
    </dgm:pt>
    <dgm:pt modelId="{F8B5E346-B351-414A-853B-7F596B6B300B}" type="pres">
      <dgm:prSet presAssocID="{492E1DDC-313D-4A7A-9766-1A231DABBC0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00EE316-7A1A-4E2C-833E-8236A74B1876}" type="presOf" srcId="{B17844D9-009C-49FA-9EBC-EE0508F26F76}" destId="{657D17BB-029D-4C85-AAF4-B4FADEA5A743}" srcOrd="0" destOrd="0" presId="urn:microsoft.com/office/officeart/2005/8/layout/vList2"/>
    <dgm:cxn modelId="{FA33D037-65FA-4664-A1F6-0A52FDAF78B3}" srcId="{66DE8DF4-F1C9-43F5-87BA-F23A92ECD89C}" destId="{B17844D9-009C-49FA-9EBC-EE0508F26F76}" srcOrd="2" destOrd="0" parTransId="{BB045F78-47E7-4B43-A850-2AB73FA02006}" sibTransId="{6C237490-3E48-473C-B983-3B088983EC68}"/>
    <dgm:cxn modelId="{1FBED237-EFD0-4F35-85DC-EE63BC6B10B7}" srcId="{66DE8DF4-F1C9-43F5-87BA-F23A92ECD89C}" destId="{492E1DDC-313D-4A7A-9766-1A231DABBC09}" srcOrd="3" destOrd="0" parTransId="{BF0ABA22-B9DD-4D95-9B21-6DB9CA71722C}" sibTransId="{9A41004C-2F7F-4AFB-B4F6-B290DC99DD5C}"/>
    <dgm:cxn modelId="{11770643-D57C-4B0C-827E-AB841DC7FB36}" srcId="{66DE8DF4-F1C9-43F5-87BA-F23A92ECD89C}" destId="{C6DBC811-82BD-4DF9-B607-DD8810BC2978}" srcOrd="1" destOrd="0" parTransId="{C75ACA5D-1B7D-40B7-919E-4543B10E9819}" sibTransId="{EDAF7023-41D7-40BE-A3FD-A2D38E622AEB}"/>
    <dgm:cxn modelId="{5B0F5165-A011-4D33-A893-96AA2EACF15E}" type="presOf" srcId="{492E1DDC-313D-4A7A-9766-1A231DABBC09}" destId="{F8B5E346-B351-414A-853B-7F596B6B300B}" srcOrd="0" destOrd="0" presId="urn:microsoft.com/office/officeart/2005/8/layout/vList2"/>
    <dgm:cxn modelId="{85F4E78A-5E44-43B6-919C-0E1F00FA9777}" type="presOf" srcId="{C6DBC811-82BD-4DF9-B607-DD8810BC2978}" destId="{2F368A0D-6CA6-454B-96AC-F539CC8CCC7C}" srcOrd="0" destOrd="0" presId="urn:microsoft.com/office/officeart/2005/8/layout/vList2"/>
    <dgm:cxn modelId="{46BC2EB4-A85B-4298-90EB-FBF4D3482C69}" type="presOf" srcId="{1AFA8619-D63F-4F9B-A947-CE63455C36F7}" destId="{4CBBDBB2-E9D1-4B44-B140-B669A2C5B06B}" srcOrd="0" destOrd="0" presId="urn:microsoft.com/office/officeart/2005/8/layout/vList2"/>
    <dgm:cxn modelId="{01967DB5-6704-44AF-8695-5937C49A268F}" srcId="{66DE8DF4-F1C9-43F5-87BA-F23A92ECD89C}" destId="{1AFA8619-D63F-4F9B-A947-CE63455C36F7}" srcOrd="0" destOrd="0" parTransId="{AAF7F0CC-6833-43FC-85DA-2B4F45364718}" sibTransId="{12C40BB7-CA64-4E92-859D-30B0C9194039}"/>
    <dgm:cxn modelId="{65BE40D1-4FD8-4DA3-BC4B-780F45AEB537}" type="presOf" srcId="{66DE8DF4-F1C9-43F5-87BA-F23A92ECD89C}" destId="{4BB95DA5-10B9-42DE-9934-D83526975149}" srcOrd="0" destOrd="0" presId="urn:microsoft.com/office/officeart/2005/8/layout/vList2"/>
    <dgm:cxn modelId="{5C816CB8-3EBD-4D78-ADB9-B32E947E87D0}" type="presParOf" srcId="{4BB95DA5-10B9-42DE-9934-D83526975149}" destId="{4CBBDBB2-E9D1-4B44-B140-B669A2C5B06B}" srcOrd="0" destOrd="0" presId="urn:microsoft.com/office/officeart/2005/8/layout/vList2"/>
    <dgm:cxn modelId="{11FBF2B8-D97C-490E-8D7F-9423E49BAA1C}" type="presParOf" srcId="{4BB95DA5-10B9-42DE-9934-D83526975149}" destId="{85AF2A4F-C21A-4B4B-B3D8-D6E26D569D9D}" srcOrd="1" destOrd="0" presId="urn:microsoft.com/office/officeart/2005/8/layout/vList2"/>
    <dgm:cxn modelId="{09CD2F79-031E-4EF0-8B0A-521C89AFB22E}" type="presParOf" srcId="{4BB95DA5-10B9-42DE-9934-D83526975149}" destId="{2F368A0D-6CA6-454B-96AC-F539CC8CCC7C}" srcOrd="2" destOrd="0" presId="urn:microsoft.com/office/officeart/2005/8/layout/vList2"/>
    <dgm:cxn modelId="{DC31C806-AD1F-4649-8799-0F35FADB8267}" type="presParOf" srcId="{4BB95DA5-10B9-42DE-9934-D83526975149}" destId="{EE94DD3E-5E05-46E9-B126-CA98B54A5B99}" srcOrd="3" destOrd="0" presId="urn:microsoft.com/office/officeart/2005/8/layout/vList2"/>
    <dgm:cxn modelId="{9F216B1A-4017-4E0B-A72F-E806693D1EE6}" type="presParOf" srcId="{4BB95DA5-10B9-42DE-9934-D83526975149}" destId="{657D17BB-029D-4C85-AAF4-B4FADEA5A743}" srcOrd="4" destOrd="0" presId="urn:microsoft.com/office/officeart/2005/8/layout/vList2"/>
    <dgm:cxn modelId="{C193712A-4E19-44F5-91C8-3B00A2D734A1}" type="presParOf" srcId="{4BB95DA5-10B9-42DE-9934-D83526975149}" destId="{352274FB-8D83-408F-A853-5F61BE92BBE9}" srcOrd="5" destOrd="0" presId="urn:microsoft.com/office/officeart/2005/8/layout/vList2"/>
    <dgm:cxn modelId="{C9A25F05-148F-48EC-AA73-E2D501B813C3}" type="presParOf" srcId="{4BB95DA5-10B9-42DE-9934-D83526975149}" destId="{F8B5E346-B351-414A-853B-7F596B6B300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575B78A-8218-4655-9E62-E230BF7B526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2954AA6-0711-408B-AA51-FDA1DE34EDD5}">
      <dgm:prSet/>
      <dgm:spPr/>
      <dgm:t>
        <a:bodyPr/>
        <a:lstStyle/>
        <a:p>
          <a:r>
            <a:rPr lang="en-US" dirty="0"/>
            <a:t>Python stops evaluating as soon as the result is known.</a:t>
          </a:r>
        </a:p>
      </dgm:t>
    </dgm:pt>
    <dgm:pt modelId="{56DB2946-09DE-43D5-B0F8-30883E0C1782}" type="parTrans" cxnId="{09DE448A-470C-4C1C-9DC1-E13735CD0568}">
      <dgm:prSet/>
      <dgm:spPr/>
      <dgm:t>
        <a:bodyPr/>
        <a:lstStyle/>
        <a:p>
          <a:endParaRPr lang="en-US"/>
        </a:p>
      </dgm:t>
    </dgm:pt>
    <dgm:pt modelId="{1FC49070-2F3F-46C8-9B55-E178E65CF97E}" type="sibTrans" cxnId="{09DE448A-470C-4C1C-9DC1-E13735CD0568}">
      <dgm:prSet/>
      <dgm:spPr/>
      <dgm:t>
        <a:bodyPr/>
        <a:lstStyle/>
        <a:p>
          <a:endParaRPr lang="en-US"/>
        </a:p>
      </dgm:t>
    </dgm:pt>
    <dgm:pt modelId="{59A16E6A-507F-4C1A-8C3C-FD91637C89CB}">
      <dgm:prSet/>
      <dgm:spPr/>
      <dgm:t>
        <a:bodyPr/>
        <a:lstStyle/>
        <a:p>
          <a:r>
            <a:rPr lang="en-US"/>
            <a:t>Example:</a:t>
          </a:r>
        </a:p>
      </dgm:t>
    </dgm:pt>
    <dgm:pt modelId="{77A141D8-9CC3-4D86-ADEB-CC10492C34DF}" type="parTrans" cxnId="{B6E41EF5-2C06-4A70-8F44-2252385C05E6}">
      <dgm:prSet/>
      <dgm:spPr/>
      <dgm:t>
        <a:bodyPr/>
        <a:lstStyle/>
        <a:p>
          <a:endParaRPr lang="en-US"/>
        </a:p>
      </dgm:t>
    </dgm:pt>
    <dgm:pt modelId="{AF3877DC-643E-4146-9572-D8DF9C5CF4DB}" type="sibTrans" cxnId="{B6E41EF5-2C06-4A70-8F44-2252385C05E6}">
      <dgm:prSet/>
      <dgm:spPr/>
      <dgm:t>
        <a:bodyPr/>
        <a:lstStyle/>
        <a:p>
          <a:endParaRPr lang="en-US"/>
        </a:p>
      </dgm:t>
    </dgm:pt>
    <dgm:pt modelId="{14D6C807-BC10-4E13-9217-3792B09D2594}">
      <dgm:prSet/>
      <dgm:spPr/>
      <dgm:t>
        <a:bodyPr/>
        <a:lstStyle/>
        <a:p>
          <a:r>
            <a:rPr lang="en-US" dirty="0"/>
            <a:t>True or print('This won’t run')</a:t>
          </a:r>
        </a:p>
      </dgm:t>
    </dgm:pt>
    <dgm:pt modelId="{FAC70DC7-026C-44FC-A8B0-04C9EE4EBBA3}" type="parTrans" cxnId="{03F0C30D-96F5-4525-8C6F-5628D6258127}">
      <dgm:prSet/>
      <dgm:spPr/>
      <dgm:t>
        <a:bodyPr/>
        <a:lstStyle/>
        <a:p>
          <a:endParaRPr lang="en-US"/>
        </a:p>
      </dgm:t>
    </dgm:pt>
    <dgm:pt modelId="{EB4D9B3F-B449-4BD3-825B-9484DBECBEC2}" type="sibTrans" cxnId="{03F0C30D-96F5-4525-8C6F-5628D6258127}">
      <dgm:prSet/>
      <dgm:spPr/>
      <dgm:t>
        <a:bodyPr/>
        <a:lstStyle/>
        <a:p>
          <a:endParaRPr lang="en-US"/>
        </a:p>
      </dgm:t>
    </dgm:pt>
    <dgm:pt modelId="{C007C687-705F-49DB-BDE5-F24BD6149E87}" type="pres">
      <dgm:prSet presAssocID="{6575B78A-8218-4655-9E62-E230BF7B526C}" presName="root" presStyleCnt="0">
        <dgm:presLayoutVars>
          <dgm:dir/>
          <dgm:resizeHandles val="exact"/>
        </dgm:presLayoutVars>
      </dgm:prSet>
      <dgm:spPr/>
    </dgm:pt>
    <dgm:pt modelId="{C23E3AD8-8E17-4E00-AC10-6372DAAD2438}" type="pres">
      <dgm:prSet presAssocID="{B2954AA6-0711-408B-AA51-FDA1DE34EDD5}" presName="compNode" presStyleCnt="0"/>
      <dgm:spPr/>
    </dgm:pt>
    <dgm:pt modelId="{D3421726-DCEE-474F-8706-554AAD8606F9}" type="pres">
      <dgm:prSet presAssocID="{B2954AA6-0711-408B-AA51-FDA1DE34EDD5}" presName="bgRect" presStyleLbl="bgShp" presStyleIdx="0" presStyleCnt="3"/>
      <dgm:spPr/>
    </dgm:pt>
    <dgm:pt modelId="{28BFD1AF-CF52-481F-802A-60D958851A4C}" type="pres">
      <dgm:prSet presAssocID="{B2954AA6-0711-408B-AA51-FDA1DE34EDD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B44C5399-5044-4580-979A-46213A1F8971}" type="pres">
      <dgm:prSet presAssocID="{B2954AA6-0711-408B-AA51-FDA1DE34EDD5}" presName="spaceRect" presStyleCnt="0"/>
      <dgm:spPr/>
    </dgm:pt>
    <dgm:pt modelId="{0DC65437-0F24-4FCC-BF90-230C9E5D551A}" type="pres">
      <dgm:prSet presAssocID="{B2954AA6-0711-408B-AA51-FDA1DE34EDD5}" presName="parTx" presStyleLbl="revTx" presStyleIdx="0" presStyleCnt="3" custScaleX="108148">
        <dgm:presLayoutVars>
          <dgm:chMax val="0"/>
          <dgm:chPref val="0"/>
        </dgm:presLayoutVars>
      </dgm:prSet>
      <dgm:spPr/>
    </dgm:pt>
    <dgm:pt modelId="{B06CBF1F-1A18-4B7A-8640-BE003EBFD614}" type="pres">
      <dgm:prSet presAssocID="{1FC49070-2F3F-46C8-9B55-E178E65CF97E}" presName="sibTrans" presStyleCnt="0"/>
      <dgm:spPr/>
    </dgm:pt>
    <dgm:pt modelId="{A35B0AFC-0024-4794-93BD-3868430A8027}" type="pres">
      <dgm:prSet presAssocID="{59A16E6A-507F-4C1A-8C3C-FD91637C89CB}" presName="compNode" presStyleCnt="0"/>
      <dgm:spPr/>
    </dgm:pt>
    <dgm:pt modelId="{E9AFF661-9289-43F7-ADAD-303B5D06C55A}" type="pres">
      <dgm:prSet presAssocID="{59A16E6A-507F-4C1A-8C3C-FD91637C89CB}" presName="bgRect" presStyleLbl="bgShp" presStyleIdx="1" presStyleCnt="3" custLinFactNeighborX="-11436" custLinFactNeighborY="3829"/>
      <dgm:spPr/>
    </dgm:pt>
    <dgm:pt modelId="{619CA7B9-0C60-4DF1-9B01-3D1658A7F633}" type="pres">
      <dgm:prSet presAssocID="{59A16E6A-507F-4C1A-8C3C-FD91637C89C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57090E6D-3054-4C88-9D2E-5610B9247CD0}" type="pres">
      <dgm:prSet presAssocID="{59A16E6A-507F-4C1A-8C3C-FD91637C89CB}" presName="spaceRect" presStyleCnt="0"/>
      <dgm:spPr/>
    </dgm:pt>
    <dgm:pt modelId="{FB58232E-11D2-4603-B885-2120B0EA56FC}" type="pres">
      <dgm:prSet presAssocID="{59A16E6A-507F-4C1A-8C3C-FD91637C89CB}" presName="parTx" presStyleLbl="revTx" presStyleIdx="1" presStyleCnt="3">
        <dgm:presLayoutVars>
          <dgm:chMax val="0"/>
          <dgm:chPref val="0"/>
        </dgm:presLayoutVars>
      </dgm:prSet>
      <dgm:spPr/>
    </dgm:pt>
    <dgm:pt modelId="{CFC3BAD7-891C-4980-B621-3C65718AE41B}" type="pres">
      <dgm:prSet presAssocID="{AF3877DC-643E-4146-9572-D8DF9C5CF4DB}" presName="sibTrans" presStyleCnt="0"/>
      <dgm:spPr/>
    </dgm:pt>
    <dgm:pt modelId="{E7A664F5-D67E-4637-82BC-20FB011D584A}" type="pres">
      <dgm:prSet presAssocID="{14D6C807-BC10-4E13-9217-3792B09D2594}" presName="compNode" presStyleCnt="0"/>
      <dgm:spPr/>
    </dgm:pt>
    <dgm:pt modelId="{78627DF5-2475-45C6-82ED-8265B31BB292}" type="pres">
      <dgm:prSet presAssocID="{14D6C807-BC10-4E13-9217-3792B09D2594}" presName="bgRect" presStyleLbl="bgShp" presStyleIdx="2" presStyleCnt="3"/>
      <dgm:spPr/>
    </dgm:pt>
    <dgm:pt modelId="{1B0FA317-19E3-4543-B55C-190E65EF9310}" type="pres">
      <dgm:prSet presAssocID="{14D6C807-BC10-4E13-9217-3792B09D259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inter"/>
        </a:ext>
      </dgm:extLst>
    </dgm:pt>
    <dgm:pt modelId="{2C2CE100-D23B-489C-9C57-5AC0C6EABB7B}" type="pres">
      <dgm:prSet presAssocID="{14D6C807-BC10-4E13-9217-3792B09D2594}" presName="spaceRect" presStyleCnt="0"/>
      <dgm:spPr/>
    </dgm:pt>
    <dgm:pt modelId="{8CEF4B0A-F115-4E16-9EC1-B34240C677E8}" type="pres">
      <dgm:prSet presAssocID="{14D6C807-BC10-4E13-9217-3792B09D2594}" presName="parTx" presStyleLbl="revTx" presStyleIdx="2" presStyleCnt="3" custScaleX="128824">
        <dgm:presLayoutVars>
          <dgm:chMax val="0"/>
          <dgm:chPref val="0"/>
        </dgm:presLayoutVars>
      </dgm:prSet>
      <dgm:spPr/>
    </dgm:pt>
  </dgm:ptLst>
  <dgm:cxnLst>
    <dgm:cxn modelId="{03F0C30D-96F5-4525-8C6F-5628D6258127}" srcId="{6575B78A-8218-4655-9E62-E230BF7B526C}" destId="{14D6C807-BC10-4E13-9217-3792B09D2594}" srcOrd="2" destOrd="0" parTransId="{FAC70DC7-026C-44FC-A8B0-04C9EE4EBBA3}" sibTransId="{EB4D9B3F-B449-4BD3-825B-9484DBECBEC2}"/>
    <dgm:cxn modelId="{C4E8F215-FCE1-4DF6-AEBE-BBAA99D5CB81}" type="presOf" srcId="{59A16E6A-507F-4C1A-8C3C-FD91637C89CB}" destId="{FB58232E-11D2-4603-B885-2120B0EA56FC}" srcOrd="0" destOrd="0" presId="urn:microsoft.com/office/officeart/2018/2/layout/IconVerticalSolidList"/>
    <dgm:cxn modelId="{DA26E263-4B82-4282-8026-4C6A668BBFF4}" type="presOf" srcId="{B2954AA6-0711-408B-AA51-FDA1DE34EDD5}" destId="{0DC65437-0F24-4FCC-BF90-230C9E5D551A}" srcOrd="0" destOrd="0" presId="urn:microsoft.com/office/officeart/2018/2/layout/IconVerticalSolidList"/>
    <dgm:cxn modelId="{78EFF371-3341-494E-8EAA-8CE6FAE8FF97}" type="presOf" srcId="{6575B78A-8218-4655-9E62-E230BF7B526C}" destId="{C007C687-705F-49DB-BDE5-F24BD6149E87}" srcOrd="0" destOrd="0" presId="urn:microsoft.com/office/officeart/2018/2/layout/IconVerticalSolidList"/>
    <dgm:cxn modelId="{D73B8956-D581-42D0-B36B-4D7AD96998C3}" type="presOf" srcId="{14D6C807-BC10-4E13-9217-3792B09D2594}" destId="{8CEF4B0A-F115-4E16-9EC1-B34240C677E8}" srcOrd="0" destOrd="0" presId="urn:microsoft.com/office/officeart/2018/2/layout/IconVerticalSolidList"/>
    <dgm:cxn modelId="{09DE448A-470C-4C1C-9DC1-E13735CD0568}" srcId="{6575B78A-8218-4655-9E62-E230BF7B526C}" destId="{B2954AA6-0711-408B-AA51-FDA1DE34EDD5}" srcOrd="0" destOrd="0" parTransId="{56DB2946-09DE-43D5-B0F8-30883E0C1782}" sibTransId="{1FC49070-2F3F-46C8-9B55-E178E65CF97E}"/>
    <dgm:cxn modelId="{B6E41EF5-2C06-4A70-8F44-2252385C05E6}" srcId="{6575B78A-8218-4655-9E62-E230BF7B526C}" destId="{59A16E6A-507F-4C1A-8C3C-FD91637C89CB}" srcOrd="1" destOrd="0" parTransId="{77A141D8-9CC3-4D86-ADEB-CC10492C34DF}" sibTransId="{AF3877DC-643E-4146-9572-D8DF9C5CF4DB}"/>
    <dgm:cxn modelId="{356C14BE-D545-4454-840C-4DF52D1F6FAE}" type="presParOf" srcId="{C007C687-705F-49DB-BDE5-F24BD6149E87}" destId="{C23E3AD8-8E17-4E00-AC10-6372DAAD2438}" srcOrd="0" destOrd="0" presId="urn:microsoft.com/office/officeart/2018/2/layout/IconVerticalSolidList"/>
    <dgm:cxn modelId="{8C354DD8-B203-4C7E-BC01-F253145F59ED}" type="presParOf" srcId="{C23E3AD8-8E17-4E00-AC10-6372DAAD2438}" destId="{D3421726-DCEE-474F-8706-554AAD8606F9}" srcOrd="0" destOrd="0" presId="urn:microsoft.com/office/officeart/2018/2/layout/IconVerticalSolidList"/>
    <dgm:cxn modelId="{B9E7DDBC-68B8-4E34-8CD8-4EBA381DF672}" type="presParOf" srcId="{C23E3AD8-8E17-4E00-AC10-6372DAAD2438}" destId="{28BFD1AF-CF52-481F-802A-60D958851A4C}" srcOrd="1" destOrd="0" presId="urn:microsoft.com/office/officeart/2018/2/layout/IconVerticalSolidList"/>
    <dgm:cxn modelId="{FF91B7AF-9306-4BA5-A27A-C446C69FF002}" type="presParOf" srcId="{C23E3AD8-8E17-4E00-AC10-6372DAAD2438}" destId="{B44C5399-5044-4580-979A-46213A1F8971}" srcOrd="2" destOrd="0" presId="urn:microsoft.com/office/officeart/2018/2/layout/IconVerticalSolidList"/>
    <dgm:cxn modelId="{7537889D-623F-4FED-8303-1DA707BCF742}" type="presParOf" srcId="{C23E3AD8-8E17-4E00-AC10-6372DAAD2438}" destId="{0DC65437-0F24-4FCC-BF90-230C9E5D551A}" srcOrd="3" destOrd="0" presId="urn:microsoft.com/office/officeart/2018/2/layout/IconVerticalSolidList"/>
    <dgm:cxn modelId="{43611B10-7529-465F-9E2D-73476321AA52}" type="presParOf" srcId="{C007C687-705F-49DB-BDE5-F24BD6149E87}" destId="{B06CBF1F-1A18-4B7A-8640-BE003EBFD614}" srcOrd="1" destOrd="0" presId="urn:microsoft.com/office/officeart/2018/2/layout/IconVerticalSolidList"/>
    <dgm:cxn modelId="{0311B5C1-6A54-42C1-9785-0BF157380A60}" type="presParOf" srcId="{C007C687-705F-49DB-BDE5-F24BD6149E87}" destId="{A35B0AFC-0024-4794-93BD-3868430A8027}" srcOrd="2" destOrd="0" presId="urn:microsoft.com/office/officeart/2018/2/layout/IconVerticalSolidList"/>
    <dgm:cxn modelId="{E985D351-0186-458D-8DE1-BC583BA30692}" type="presParOf" srcId="{A35B0AFC-0024-4794-93BD-3868430A8027}" destId="{E9AFF661-9289-43F7-ADAD-303B5D06C55A}" srcOrd="0" destOrd="0" presId="urn:microsoft.com/office/officeart/2018/2/layout/IconVerticalSolidList"/>
    <dgm:cxn modelId="{FC1C60A2-C96C-4E10-9482-6DC98FE1FA0A}" type="presParOf" srcId="{A35B0AFC-0024-4794-93BD-3868430A8027}" destId="{619CA7B9-0C60-4DF1-9B01-3D1658A7F633}" srcOrd="1" destOrd="0" presId="urn:microsoft.com/office/officeart/2018/2/layout/IconVerticalSolidList"/>
    <dgm:cxn modelId="{08C8A7A1-138E-4BF6-8F5C-1F6718CCB8E4}" type="presParOf" srcId="{A35B0AFC-0024-4794-93BD-3868430A8027}" destId="{57090E6D-3054-4C88-9D2E-5610B9247CD0}" srcOrd="2" destOrd="0" presId="urn:microsoft.com/office/officeart/2018/2/layout/IconVerticalSolidList"/>
    <dgm:cxn modelId="{77B547BC-5FA7-481E-A428-E0EF878D498D}" type="presParOf" srcId="{A35B0AFC-0024-4794-93BD-3868430A8027}" destId="{FB58232E-11D2-4603-B885-2120B0EA56FC}" srcOrd="3" destOrd="0" presId="urn:microsoft.com/office/officeart/2018/2/layout/IconVerticalSolidList"/>
    <dgm:cxn modelId="{044C5B36-464D-4C82-9000-1399B635302F}" type="presParOf" srcId="{C007C687-705F-49DB-BDE5-F24BD6149E87}" destId="{CFC3BAD7-891C-4980-B621-3C65718AE41B}" srcOrd="3" destOrd="0" presId="urn:microsoft.com/office/officeart/2018/2/layout/IconVerticalSolidList"/>
    <dgm:cxn modelId="{AFFBC764-D722-46CA-A0C4-A78D5AF2AF47}" type="presParOf" srcId="{C007C687-705F-49DB-BDE5-F24BD6149E87}" destId="{E7A664F5-D67E-4637-82BC-20FB011D584A}" srcOrd="4" destOrd="0" presId="urn:microsoft.com/office/officeart/2018/2/layout/IconVerticalSolidList"/>
    <dgm:cxn modelId="{1B029FAE-2C42-4489-AD1E-A78A3FC65E5D}" type="presParOf" srcId="{E7A664F5-D67E-4637-82BC-20FB011D584A}" destId="{78627DF5-2475-45C6-82ED-8265B31BB292}" srcOrd="0" destOrd="0" presId="urn:microsoft.com/office/officeart/2018/2/layout/IconVerticalSolidList"/>
    <dgm:cxn modelId="{BE78CF4A-AB35-4B78-9915-1A55486A63C0}" type="presParOf" srcId="{E7A664F5-D67E-4637-82BC-20FB011D584A}" destId="{1B0FA317-19E3-4543-B55C-190E65EF9310}" srcOrd="1" destOrd="0" presId="urn:microsoft.com/office/officeart/2018/2/layout/IconVerticalSolidList"/>
    <dgm:cxn modelId="{532955AC-F84E-41AE-92AD-6D584E7FA985}" type="presParOf" srcId="{E7A664F5-D67E-4637-82BC-20FB011D584A}" destId="{2C2CE100-D23B-489C-9C57-5AC0C6EABB7B}" srcOrd="2" destOrd="0" presId="urn:microsoft.com/office/officeart/2018/2/layout/IconVerticalSolidList"/>
    <dgm:cxn modelId="{3B36340D-F953-4051-852D-38F00A7C6169}" type="presParOf" srcId="{E7A664F5-D67E-4637-82BC-20FB011D584A}" destId="{8CEF4B0A-F115-4E16-9EC1-B34240C677E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400951-600D-4D38-9D52-D8C958B85013}">
      <dsp:nvSpPr>
        <dsp:cNvPr id="0" name=""/>
        <dsp:cNvSpPr/>
      </dsp:nvSpPr>
      <dsp:spPr>
        <a:xfrm>
          <a:off x="0" y="2406"/>
          <a:ext cx="458759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D531BF-FC86-4916-A869-C496132541CE}">
      <dsp:nvSpPr>
        <dsp:cNvPr id="0" name=""/>
        <dsp:cNvSpPr/>
      </dsp:nvSpPr>
      <dsp:spPr>
        <a:xfrm>
          <a:off x="0" y="2406"/>
          <a:ext cx="4587596" cy="16413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Flow control determines the order in which instructions are executed.</a:t>
          </a:r>
        </a:p>
      </dsp:txBody>
      <dsp:txXfrm>
        <a:off x="0" y="2406"/>
        <a:ext cx="4587596" cy="1641304"/>
      </dsp:txXfrm>
    </dsp:sp>
    <dsp:sp modelId="{86A5E0EE-4D6B-4D3D-9FAD-98370014F5BE}">
      <dsp:nvSpPr>
        <dsp:cNvPr id="0" name=""/>
        <dsp:cNvSpPr/>
      </dsp:nvSpPr>
      <dsp:spPr>
        <a:xfrm>
          <a:off x="0" y="1643711"/>
          <a:ext cx="4587596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E663DD-188D-476B-9B49-BB4844F9B4F1}">
      <dsp:nvSpPr>
        <dsp:cNvPr id="0" name=""/>
        <dsp:cNvSpPr/>
      </dsp:nvSpPr>
      <dsp:spPr>
        <a:xfrm>
          <a:off x="0" y="1643711"/>
          <a:ext cx="4587596" cy="16413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Analogy: writing a recipe </a:t>
          </a:r>
        </a:p>
      </dsp:txBody>
      <dsp:txXfrm>
        <a:off x="0" y="1643711"/>
        <a:ext cx="4587596" cy="1641304"/>
      </dsp:txXfrm>
    </dsp:sp>
    <dsp:sp modelId="{A10C2A1B-E48A-4A07-9EAE-C85E76B9ACA4}">
      <dsp:nvSpPr>
        <dsp:cNvPr id="0" name=""/>
        <dsp:cNvSpPr/>
      </dsp:nvSpPr>
      <dsp:spPr>
        <a:xfrm>
          <a:off x="0" y="3285016"/>
          <a:ext cx="4587596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2C397A-AF85-4066-A232-28996DA9A48A}">
      <dsp:nvSpPr>
        <dsp:cNvPr id="0" name=""/>
        <dsp:cNvSpPr/>
      </dsp:nvSpPr>
      <dsp:spPr>
        <a:xfrm>
          <a:off x="0" y="3285016"/>
          <a:ext cx="4587596" cy="16413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— you follow steps, make decisions, and repeat instructions when needed.</a:t>
          </a:r>
        </a:p>
      </dsp:txBody>
      <dsp:txXfrm>
        <a:off x="0" y="3285016"/>
        <a:ext cx="4587596" cy="16413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BBDBB2-E9D1-4B44-B140-B669A2C5B06B}">
      <dsp:nvSpPr>
        <dsp:cNvPr id="0" name=""/>
        <dsp:cNvSpPr/>
      </dsp:nvSpPr>
      <dsp:spPr>
        <a:xfrm>
          <a:off x="0" y="46706"/>
          <a:ext cx="77724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Used to combine conditions:</a:t>
          </a:r>
        </a:p>
      </dsp:txBody>
      <dsp:txXfrm>
        <a:off x="39809" y="86515"/>
        <a:ext cx="7692782" cy="735872"/>
      </dsp:txXfrm>
    </dsp:sp>
    <dsp:sp modelId="{2F368A0D-6CA6-454B-96AC-F539CC8CCC7C}">
      <dsp:nvSpPr>
        <dsp:cNvPr id="0" name=""/>
        <dsp:cNvSpPr/>
      </dsp:nvSpPr>
      <dsp:spPr>
        <a:xfrm>
          <a:off x="0" y="960116"/>
          <a:ext cx="77724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- and: both must be true</a:t>
          </a:r>
        </a:p>
      </dsp:txBody>
      <dsp:txXfrm>
        <a:off x="39809" y="999925"/>
        <a:ext cx="7692782" cy="735872"/>
      </dsp:txXfrm>
    </dsp:sp>
    <dsp:sp modelId="{657D17BB-029D-4C85-AAF4-B4FADEA5A743}">
      <dsp:nvSpPr>
        <dsp:cNvPr id="0" name=""/>
        <dsp:cNvSpPr/>
      </dsp:nvSpPr>
      <dsp:spPr>
        <a:xfrm>
          <a:off x="0" y="1873526"/>
          <a:ext cx="77724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- or: at least one must be true</a:t>
          </a:r>
        </a:p>
      </dsp:txBody>
      <dsp:txXfrm>
        <a:off x="39809" y="1913335"/>
        <a:ext cx="7692782" cy="735872"/>
      </dsp:txXfrm>
    </dsp:sp>
    <dsp:sp modelId="{F8B5E346-B351-414A-853B-7F596B6B300B}">
      <dsp:nvSpPr>
        <dsp:cNvPr id="0" name=""/>
        <dsp:cNvSpPr/>
      </dsp:nvSpPr>
      <dsp:spPr>
        <a:xfrm>
          <a:off x="0" y="2786936"/>
          <a:ext cx="7772400" cy="815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- not: reverses the result</a:t>
          </a:r>
        </a:p>
      </dsp:txBody>
      <dsp:txXfrm>
        <a:off x="39809" y="2826745"/>
        <a:ext cx="7692782" cy="73587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421726-DCEE-474F-8706-554AAD8606F9}">
      <dsp:nvSpPr>
        <dsp:cNvPr id="0" name=""/>
        <dsp:cNvSpPr/>
      </dsp:nvSpPr>
      <dsp:spPr>
        <a:xfrm>
          <a:off x="-272014" y="8913"/>
          <a:ext cx="5653276" cy="16014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BFD1AF-CF52-481F-802A-60D958851A4C}">
      <dsp:nvSpPr>
        <dsp:cNvPr id="0" name=""/>
        <dsp:cNvSpPr/>
      </dsp:nvSpPr>
      <dsp:spPr>
        <a:xfrm>
          <a:off x="212434" y="369247"/>
          <a:ext cx="880816" cy="88081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C65437-0F24-4FCC-BF90-230C9E5D551A}">
      <dsp:nvSpPr>
        <dsp:cNvPr id="0" name=""/>
        <dsp:cNvSpPr/>
      </dsp:nvSpPr>
      <dsp:spPr>
        <a:xfrm>
          <a:off x="1422890" y="8913"/>
          <a:ext cx="4109563" cy="1601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490" tIns="169490" rIns="169490" bIns="16949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Python stops evaluating as soon as the result is known.</a:t>
          </a:r>
        </a:p>
      </dsp:txBody>
      <dsp:txXfrm>
        <a:off x="1422890" y="8913"/>
        <a:ext cx="4109563" cy="1601484"/>
      </dsp:txXfrm>
    </dsp:sp>
    <dsp:sp modelId="{E9AFF661-9289-43F7-ADAD-303B5D06C55A}">
      <dsp:nvSpPr>
        <dsp:cNvPr id="0" name=""/>
        <dsp:cNvSpPr/>
      </dsp:nvSpPr>
      <dsp:spPr>
        <a:xfrm>
          <a:off x="-272014" y="2072089"/>
          <a:ext cx="5653276" cy="16014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9CA7B9-0C60-4DF1-9B01-3D1658A7F633}">
      <dsp:nvSpPr>
        <dsp:cNvPr id="0" name=""/>
        <dsp:cNvSpPr/>
      </dsp:nvSpPr>
      <dsp:spPr>
        <a:xfrm>
          <a:off x="212434" y="2371103"/>
          <a:ext cx="880816" cy="88081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58232E-11D2-4603-B885-2120B0EA56FC}">
      <dsp:nvSpPr>
        <dsp:cNvPr id="0" name=""/>
        <dsp:cNvSpPr/>
      </dsp:nvSpPr>
      <dsp:spPr>
        <a:xfrm>
          <a:off x="1577699" y="2010769"/>
          <a:ext cx="3799944" cy="1601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490" tIns="169490" rIns="169490" bIns="16949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Example:</a:t>
          </a:r>
        </a:p>
      </dsp:txBody>
      <dsp:txXfrm>
        <a:off x="1577699" y="2010769"/>
        <a:ext cx="3799944" cy="1601484"/>
      </dsp:txXfrm>
    </dsp:sp>
    <dsp:sp modelId="{78627DF5-2475-45C6-82ED-8265B31BB292}">
      <dsp:nvSpPr>
        <dsp:cNvPr id="0" name=""/>
        <dsp:cNvSpPr/>
      </dsp:nvSpPr>
      <dsp:spPr>
        <a:xfrm>
          <a:off x="-272014" y="4012625"/>
          <a:ext cx="5653276" cy="16014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0FA317-19E3-4543-B55C-190E65EF9310}">
      <dsp:nvSpPr>
        <dsp:cNvPr id="0" name=""/>
        <dsp:cNvSpPr/>
      </dsp:nvSpPr>
      <dsp:spPr>
        <a:xfrm>
          <a:off x="212434" y="4372959"/>
          <a:ext cx="880816" cy="88081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EF4B0A-F115-4E16-9EC1-B34240C677E8}">
      <dsp:nvSpPr>
        <dsp:cNvPr id="0" name=""/>
        <dsp:cNvSpPr/>
      </dsp:nvSpPr>
      <dsp:spPr>
        <a:xfrm>
          <a:off x="1030051" y="4012625"/>
          <a:ext cx="4895239" cy="1601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9490" tIns="169490" rIns="169490" bIns="16949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True or print('This won’t run')</a:t>
          </a:r>
        </a:p>
      </dsp:txBody>
      <dsp:txXfrm>
        <a:off x="1030051" y="4012625"/>
        <a:ext cx="4895239" cy="16014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Title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9775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43973" y="1964267"/>
            <a:ext cx="5714228" cy="2421464"/>
          </a:xfrm>
        </p:spPr>
        <p:txBody>
          <a:bodyPr anchor="b">
            <a:normAutofit/>
          </a:bodyPr>
          <a:lstStyle>
            <a:lvl1pPr algn="r">
              <a:defRPr sz="4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973" y="4385733"/>
            <a:ext cx="5714228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52311" y="5870576"/>
            <a:ext cx="1212173" cy="3778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43973" y="5870576"/>
            <a:ext cx="3932137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0685" y="5870576"/>
            <a:ext cx="417516" cy="3778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323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037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3308581"/>
            <a:ext cx="77724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4777381"/>
            <a:ext cx="777240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448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1" y="2142068"/>
            <a:ext cx="3813048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6553" y="2142068"/>
            <a:ext cx="3813048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996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480" y="2218267"/>
            <a:ext cx="354060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1120" y="2218267"/>
            <a:ext cx="35184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6552" y="2870201"/>
            <a:ext cx="3813048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05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09601"/>
            <a:ext cx="7772400" cy="145626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642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211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718" y="1557868"/>
            <a:ext cx="2862910" cy="1439332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144" y="609601"/>
            <a:ext cx="4627975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1718" y="2997200"/>
            <a:ext cx="2862910" cy="184573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818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128" y="1735672"/>
            <a:ext cx="4097204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200" y="914400"/>
            <a:ext cx="3200400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 dirty="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2128" y="3107272"/>
            <a:ext cx="4097204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965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4732865"/>
            <a:ext cx="7772400" cy="566738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4401" y="932112"/>
            <a:ext cx="6858000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6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5299603"/>
            <a:ext cx="77724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946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609602"/>
            <a:ext cx="7772399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4343400"/>
            <a:ext cx="7772399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8750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988671" y="3352800"/>
            <a:ext cx="6876133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266" y="4343400"/>
            <a:ext cx="77724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0272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291648"/>
            <a:ext cx="7772401" cy="1468800"/>
          </a:xfrm>
        </p:spPr>
        <p:txBody>
          <a:bodyPr anchor="b">
            <a:normAutofit/>
          </a:bodyPr>
          <a:lstStyle>
            <a:lvl1pPr algn="l">
              <a:defRPr sz="2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60448"/>
            <a:ext cx="7772402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8295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1796" y="71811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35800" y="275167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15" y="609602"/>
            <a:ext cx="7091297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3886200"/>
            <a:ext cx="7772401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775200"/>
            <a:ext cx="7772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6282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440" y="609602"/>
            <a:ext cx="7772401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64440" y="3505200"/>
            <a:ext cx="777240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4439" y="4343400"/>
            <a:ext cx="7772401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8054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327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S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6" y="0"/>
            <a:ext cx="91186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2978" y="609600"/>
            <a:ext cx="1676621" cy="5181601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990184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256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1"/>
            <a:ext cx="7772400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142068"/>
            <a:ext cx="7772400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23712" y="5870576"/>
            <a:ext cx="1212173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5870576"/>
            <a:ext cx="5990311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12085" y="5870576"/>
            <a:ext cx="417516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0544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3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7657AB-F533-0FE8-C514-808DBBC04B1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r="25000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600427"/>
            <a:ext cx="7406640" cy="329990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7100">
                <a:solidFill>
                  <a:srgbClr val="FFFFFF"/>
                </a:solidFill>
              </a:rPr>
              <a:t>Flow Control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4652" y="4072045"/>
            <a:ext cx="7406640" cy="141435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>
                <a:solidFill>
                  <a:srgbClr val="FFFFFF"/>
                </a:solidFill>
              </a:rPr>
              <a:t>Chapter 3 - Section 3.1: Making Decisions Like a Chef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3429" y="973667"/>
            <a:ext cx="2206657" cy="483374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BEBEB"/>
                </a:solidFill>
              </a:rPr>
              <a:t>What Is Flow Control?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14F866B-E870-6C79-BE55-CD93D07604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3392518"/>
              </p:ext>
            </p:extLst>
          </p:nvPr>
        </p:nvGraphicFramePr>
        <p:xfrm>
          <a:off x="723680" y="973667"/>
          <a:ext cx="4587596" cy="49287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DFC33082-5809-D0A6-A2CA-F0B9FFE1E7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2674" y="4725626"/>
            <a:ext cx="810838" cy="8108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BCA69C-9236-F1D1-8D37-0F24D2F970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92674" y="1414915"/>
            <a:ext cx="810838" cy="8108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215" y="973668"/>
            <a:ext cx="6571060" cy="70696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700">
                <a:solidFill>
                  <a:srgbClr val="EBEBEB"/>
                </a:solidFill>
              </a:rPr>
              <a:t>Cooking Analogy: Making a Sandwich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215" y="2272553"/>
            <a:ext cx="5305985" cy="374724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dirty="0"/>
              <a:t>sandwich</a:t>
            </a:r>
            <a:r>
              <a:rPr lang="en-US" dirty="0"/>
              <a:t>()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dirty="0"/>
              <a:t>	</a:t>
            </a:r>
            <a:r>
              <a:rPr dirty="0"/>
              <a:t>- If you have bread, proceed.</a:t>
            </a:r>
            <a:endParaRPr lang="en-US" dirty="0"/>
          </a:p>
          <a:p>
            <a:pPr marL="0" indent="0">
              <a:lnSpc>
                <a:spcPct val="90000"/>
              </a:lnSpc>
              <a:buNone/>
            </a:pPr>
            <a:r>
              <a:rPr lang="en-US" dirty="0"/>
              <a:t>	</a:t>
            </a:r>
            <a:r>
              <a:rPr dirty="0"/>
              <a:t>- If you have cheese and ham, add both.</a:t>
            </a:r>
            <a:endParaRPr lang="en-US" dirty="0"/>
          </a:p>
          <a:p>
            <a:pPr marL="0" indent="0">
              <a:lnSpc>
                <a:spcPct val="90000"/>
              </a:lnSpc>
              <a:buNone/>
            </a:pPr>
            <a:r>
              <a:rPr lang="en-US" dirty="0"/>
              <a:t>	</a:t>
            </a:r>
            <a:r>
              <a:rPr dirty="0"/>
              <a:t>- If no ham, just use cheese.</a:t>
            </a:r>
            <a:endParaRPr lang="en-US" dirty="0"/>
          </a:p>
          <a:p>
            <a:pPr marL="0" indent="0">
              <a:lnSpc>
                <a:spcPct val="90000"/>
              </a:lnSpc>
              <a:buNone/>
            </a:pPr>
            <a:r>
              <a:rPr lang="en-US" dirty="0"/>
              <a:t>	</a:t>
            </a:r>
            <a:r>
              <a:rPr dirty="0"/>
              <a:t>- If you run out of ingredients — stop!</a:t>
            </a:r>
            <a:endParaRPr lang="en-US" dirty="0"/>
          </a:p>
          <a:p>
            <a:pPr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dirty="0"/>
              <a:t>This is flow control: making decisions and repeating steps based on conditions.</a:t>
            </a:r>
            <a:endParaRPr lang="en-US" dirty="0"/>
          </a:p>
        </p:txBody>
      </p:sp>
      <p:pic>
        <p:nvPicPr>
          <p:cNvPr id="7" name="Graphic 6" descr="Taco">
            <a:extLst>
              <a:ext uri="{FF2B5EF4-FFF2-40B4-BE49-F238E27FC236}">
                <a16:creationId xmlns:a16="http://schemas.microsoft.com/office/drawing/2014/main" id="{0E5E1174-5147-9559-7ADF-25F0EBA40D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0886" y="3154514"/>
            <a:ext cx="2310036" cy="231003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Flow Control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Without flow control:</a:t>
            </a:r>
          </a:p>
          <a:p>
            <a:r>
              <a:t>- Code runs from top to bottom, no flexibility.</a:t>
            </a:r>
          </a:p>
          <a:p>
            <a:endParaRPr/>
          </a:p>
          <a:p>
            <a:r>
              <a:t>With flow control:</a:t>
            </a:r>
          </a:p>
          <a:p>
            <a:r>
              <a:t>- Programs can make decisions, repeat steps, or skip parts.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7185" y="1085549"/>
            <a:ext cx="2573210" cy="4686903"/>
          </a:xfrm>
        </p:spPr>
        <p:txBody>
          <a:bodyPr anchor="ctr"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Types of Flow Control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90722" y="1085549"/>
            <a:ext cx="5026088" cy="4686903"/>
          </a:xfrm>
        </p:spPr>
        <p:txBody>
          <a:bodyPr anchor="ctr"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1. Conditionals: if, </a:t>
            </a:r>
            <a:r>
              <a:rPr lang="en-US" sz="2800" dirty="0" err="1">
                <a:solidFill>
                  <a:schemeClr val="tx1"/>
                </a:solidFill>
              </a:rPr>
              <a:t>elif</a:t>
            </a:r>
            <a:r>
              <a:rPr lang="en-US" sz="2800" dirty="0">
                <a:solidFill>
                  <a:schemeClr val="tx1"/>
                </a:solidFill>
              </a:rPr>
              <a:t>, else  — make decisions</a:t>
            </a:r>
          </a:p>
          <a:p>
            <a:r>
              <a:rPr lang="en-US" sz="2800" dirty="0">
                <a:solidFill>
                  <a:schemeClr val="tx1"/>
                </a:solidFill>
              </a:rPr>
              <a:t>2. Loops: while,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    for — repeat steps</a:t>
            </a:r>
          </a:p>
          <a:p>
            <a:r>
              <a:rPr lang="en-US" sz="2800" dirty="0">
                <a:solidFill>
                  <a:schemeClr val="tx1"/>
                </a:solidFill>
              </a:rPr>
              <a:t>3. Break Tools: 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	break, continue, pass 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6593" y="639097"/>
            <a:ext cx="4944806" cy="1612490"/>
          </a:xfrm>
        </p:spPr>
        <p:txBody>
          <a:bodyPr>
            <a:normAutofit/>
          </a:bodyPr>
          <a:lstStyle/>
          <a:p>
            <a:r>
              <a:rPr dirty="0"/>
              <a:t>Real-World Use Cases</a:t>
            </a:r>
          </a:p>
        </p:txBody>
      </p:sp>
      <p:pic>
        <p:nvPicPr>
          <p:cNvPr id="5" name="Picture 4" descr="Hand drawn illustration of assorted desserts and drinks">
            <a:extLst>
              <a:ext uri="{FF2B5EF4-FFF2-40B4-BE49-F238E27FC236}">
                <a16:creationId xmlns:a16="http://schemas.microsoft.com/office/drawing/2014/main" id="{A5160F64-FDF4-F3F1-332A-7D62B646C2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682" r="32984"/>
          <a:stretch/>
        </p:blipFill>
        <p:spPr>
          <a:xfrm>
            <a:off x="20" y="975"/>
            <a:ext cx="3476986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6593" y="2251587"/>
            <a:ext cx="4944806" cy="3972232"/>
          </a:xfrm>
        </p:spPr>
        <p:txBody>
          <a:bodyPr>
            <a:normAutofit/>
          </a:bodyPr>
          <a:lstStyle/>
          <a:p>
            <a:r>
              <a:rPr sz="2400" dirty="0"/>
              <a:t>- Menus: like a fast food ordering system</a:t>
            </a:r>
          </a:p>
          <a:p>
            <a:r>
              <a:rPr sz="2400" dirty="0"/>
              <a:t>- Input prompts: e.g., 'Enter password again'</a:t>
            </a:r>
          </a:p>
          <a:p>
            <a:r>
              <a:rPr sz="2400" dirty="0"/>
              <a:t>- Conditional logic: apply discounts if total &gt; $50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0E53EDA-3B94-4F6B-9E86-D3BB9EBB9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719807"/>
            <a:ext cx="2744542" cy="3418387"/>
          </a:xfrm>
        </p:spPr>
        <p:txBody>
          <a:bodyPr>
            <a:normAutofit/>
          </a:bodyPr>
          <a:lstStyle/>
          <a:p>
            <a:pPr algn="r"/>
            <a:r>
              <a:t>What’s Next</a:t>
            </a:r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EFD79F-7790-479B-B7DB-BD0D8C101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00192" y="2108835"/>
            <a:ext cx="0" cy="264033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1494" y="1719807"/>
            <a:ext cx="4888157" cy="3418387"/>
          </a:xfrm>
        </p:spPr>
        <p:txBody>
          <a:bodyPr>
            <a:normAutofit/>
          </a:bodyPr>
          <a:lstStyle/>
          <a:p>
            <a:r>
              <a:t>- Learn Boolean logic and comparisons</a:t>
            </a:r>
          </a:p>
          <a:p>
            <a:r>
              <a:t>- Write your first smart if block</a:t>
            </a:r>
          </a:p>
          <a:p>
            <a:r>
              <a:t>- Build a real decision-making program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6B5BE70-4451-4286-9D79-27C26F755F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176C668-3F88-414B-AAEE-1785E38D5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55921" y="1721008"/>
            <a:ext cx="3914173" cy="3415985"/>
          </a:xfrm>
        </p:spPr>
        <p:txBody>
          <a:bodyPr anchor="ctr">
            <a:normAutofit/>
          </a:bodyPr>
          <a:lstStyle/>
          <a:p>
            <a:r>
              <a:rPr lang="en-US" sz="3600"/>
              <a:t>Boolean Values and Expressions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58C5A54-E70B-4B9B-A7FE-D3A05561BF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857250"/>
            <a:ext cx="3973322" cy="5143500"/>
          </a:xfrm>
          <a:custGeom>
            <a:avLst/>
            <a:gdLst>
              <a:gd name="connsiteX0" fmla="*/ 5297762 w 5297762"/>
              <a:gd name="connsiteY0" fmla="*/ 0 h 6858000"/>
              <a:gd name="connsiteX1" fmla="*/ 4654296 w 5297762"/>
              <a:gd name="connsiteY1" fmla="*/ 0 h 6858000"/>
              <a:gd name="connsiteX2" fmla="*/ 4470448 w 5297762"/>
              <a:gd name="connsiteY2" fmla="*/ 0 h 6858000"/>
              <a:gd name="connsiteX3" fmla="*/ 0 w 5297762"/>
              <a:gd name="connsiteY3" fmla="*/ 0 h 6858000"/>
              <a:gd name="connsiteX4" fmla="*/ 0 w 5297762"/>
              <a:gd name="connsiteY4" fmla="*/ 70650 h 6858000"/>
              <a:gd name="connsiteX5" fmla="*/ 13678 w 5297762"/>
              <a:gd name="connsiteY5" fmla="*/ 155673 h 6858000"/>
              <a:gd name="connsiteX6" fmla="*/ 37547 w 5297762"/>
              <a:gd name="connsiteY6" fmla="*/ 310664 h 6858000"/>
              <a:gd name="connsiteX7" fmla="*/ 60911 w 5297762"/>
              <a:gd name="connsiteY7" fmla="*/ 466340 h 6858000"/>
              <a:gd name="connsiteX8" fmla="*/ 80914 w 5297762"/>
              <a:gd name="connsiteY8" fmla="*/ 622703 h 6858000"/>
              <a:gd name="connsiteX9" fmla="*/ 101085 w 5297762"/>
              <a:gd name="connsiteY9" fmla="*/ 778379 h 6858000"/>
              <a:gd name="connsiteX10" fmla="*/ 119911 w 5297762"/>
              <a:gd name="connsiteY10" fmla="*/ 934742 h 6858000"/>
              <a:gd name="connsiteX11" fmla="*/ 136047 w 5297762"/>
              <a:gd name="connsiteY11" fmla="*/ 1089047 h 6858000"/>
              <a:gd name="connsiteX12" fmla="*/ 151343 w 5297762"/>
              <a:gd name="connsiteY12" fmla="*/ 1245409 h 6858000"/>
              <a:gd name="connsiteX13" fmla="*/ 165295 w 5297762"/>
              <a:gd name="connsiteY13" fmla="*/ 1401086 h 6858000"/>
              <a:gd name="connsiteX14" fmla="*/ 177397 w 5297762"/>
              <a:gd name="connsiteY14" fmla="*/ 1554019 h 6858000"/>
              <a:gd name="connsiteX15" fmla="*/ 189500 w 5297762"/>
              <a:gd name="connsiteY15" fmla="*/ 1709010 h 6858000"/>
              <a:gd name="connsiteX16" fmla="*/ 199585 w 5297762"/>
              <a:gd name="connsiteY16" fmla="*/ 1861943 h 6858000"/>
              <a:gd name="connsiteX17" fmla="*/ 207485 w 5297762"/>
              <a:gd name="connsiteY17" fmla="*/ 2014877 h 6858000"/>
              <a:gd name="connsiteX18" fmla="*/ 215722 w 5297762"/>
              <a:gd name="connsiteY18" fmla="*/ 2167124 h 6858000"/>
              <a:gd name="connsiteX19" fmla="*/ 222613 w 5297762"/>
              <a:gd name="connsiteY19" fmla="*/ 2318000 h 6858000"/>
              <a:gd name="connsiteX20" fmla="*/ 227488 w 5297762"/>
              <a:gd name="connsiteY20" fmla="*/ 2467505 h 6858000"/>
              <a:gd name="connsiteX21" fmla="*/ 231690 w 5297762"/>
              <a:gd name="connsiteY21" fmla="*/ 2617009 h 6858000"/>
              <a:gd name="connsiteX22" fmla="*/ 235724 w 5297762"/>
              <a:gd name="connsiteY22" fmla="*/ 2765142 h 6858000"/>
              <a:gd name="connsiteX23" fmla="*/ 237573 w 5297762"/>
              <a:gd name="connsiteY23" fmla="*/ 2911217 h 6858000"/>
              <a:gd name="connsiteX24" fmla="*/ 239590 w 5297762"/>
              <a:gd name="connsiteY24" fmla="*/ 3057293 h 6858000"/>
              <a:gd name="connsiteX25" fmla="*/ 240599 w 5297762"/>
              <a:gd name="connsiteY25" fmla="*/ 3201311 h 6858000"/>
              <a:gd name="connsiteX26" fmla="*/ 239590 w 5297762"/>
              <a:gd name="connsiteY26" fmla="*/ 3343957 h 6858000"/>
              <a:gd name="connsiteX27" fmla="*/ 239590 w 5297762"/>
              <a:gd name="connsiteY27" fmla="*/ 3485232 h 6858000"/>
              <a:gd name="connsiteX28" fmla="*/ 237573 w 5297762"/>
              <a:gd name="connsiteY28" fmla="*/ 3625135 h 6858000"/>
              <a:gd name="connsiteX29" fmla="*/ 234548 w 5297762"/>
              <a:gd name="connsiteY29" fmla="*/ 3762295 h 6858000"/>
              <a:gd name="connsiteX30" fmla="*/ 231690 w 5297762"/>
              <a:gd name="connsiteY30" fmla="*/ 3898083 h 6858000"/>
              <a:gd name="connsiteX31" fmla="*/ 228496 w 5297762"/>
              <a:gd name="connsiteY31" fmla="*/ 4031129 h 6858000"/>
              <a:gd name="connsiteX32" fmla="*/ 223622 w 5297762"/>
              <a:gd name="connsiteY32" fmla="*/ 4163488 h 6858000"/>
              <a:gd name="connsiteX33" fmla="*/ 218411 w 5297762"/>
              <a:gd name="connsiteY33" fmla="*/ 4293789 h 6858000"/>
              <a:gd name="connsiteX34" fmla="*/ 213705 w 5297762"/>
              <a:gd name="connsiteY34" fmla="*/ 4421348 h 6858000"/>
              <a:gd name="connsiteX35" fmla="*/ 200425 w 5297762"/>
              <a:gd name="connsiteY35" fmla="*/ 4670294 h 6858000"/>
              <a:gd name="connsiteX36" fmla="*/ 186306 w 5297762"/>
              <a:gd name="connsiteY36" fmla="*/ 4908952 h 6858000"/>
              <a:gd name="connsiteX37" fmla="*/ 171514 w 5297762"/>
              <a:gd name="connsiteY37" fmla="*/ 5138009 h 6858000"/>
              <a:gd name="connsiteX38" fmla="*/ 155209 w 5297762"/>
              <a:gd name="connsiteY38" fmla="*/ 5354722 h 6858000"/>
              <a:gd name="connsiteX39" fmla="*/ 138232 w 5297762"/>
              <a:gd name="connsiteY39" fmla="*/ 5561834 h 6858000"/>
              <a:gd name="connsiteX40" fmla="*/ 119911 w 5297762"/>
              <a:gd name="connsiteY40" fmla="*/ 5753858 h 6858000"/>
              <a:gd name="connsiteX41" fmla="*/ 101925 w 5297762"/>
              <a:gd name="connsiteY41" fmla="*/ 5934223 h 6858000"/>
              <a:gd name="connsiteX42" fmla="*/ 83940 w 5297762"/>
              <a:gd name="connsiteY42" fmla="*/ 6100187 h 6858000"/>
              <a:gd name="connsiteX43" fmla="*/ 66963 w 5297762"/>
              <a:gd name="connsiteY43" fmla="*/ 6252434 h 6858000"/>
              <a:gd name="connsiteX44" fmla="*/ 50826 w 5297762"/>
              <a:gd name="connsiteY44" fmla="*/ 6387537 h 6858000"/>
              <a:gd name="connsiteX45" fmla="*/ 35530 w 5297762"/>
              <a:gd name="connsiteY45" fmla="*/ 6509609 h 6858000"/>
              <a:gd name="connsiteX46" fmla="*/ 22755 w 5297762"/>
              <a:gd name="connsiteY46" fmla="*/ 6612479 h 6858000"/>
              <a:gd name="connsiteX47" fmla="*/ 10653 w 5297762"/>
              <a:gd name="connsiteY47" fmla="*/ 6698890 h 6858000"/>
              <a:gd name="connsiteX48" fmla="*/ 0 w 5297762"/>
              <a:gd name="connsiteY48" fmla="*/ 6771890 h 6858000"/>
              <a:gd name="connsiteX49" fmla="*/ 0 w 5297762"/>
              <a:gd name="connsiteY49" fmla="*/ 6858000 h 6858000"/>
              <a:gd name="connsiteX50" fmla="*/ 4470448 w 5297762"/>
              <a:gd name="connsiteY50" fmla="*/ 6858000 h 6858000"/>
              <a:gd name="connsiteX51" fmla="*/ 4654296 w 5297762"/>
              <a:gd name="connsiteY51" fmla="*/ 6858000 h 6858000"/>
              <a:gd name="connsiteX52" fmla="*/ 5297762 w 5297762"/>
              <a:gd name="connsiteY5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5297762" h="6858000">
                <a:moveTo>
                  <a:pt x="5297762" y="0"/>
                </a:moveTo>
                <a:lnTo>
                  <a:pt x="4654296" y="0"/>
                </a:lnTo>
                <a:lnTo>
                  <a:pt x="4470448" y="0"/>
                </a:lnTo>
                <a:lnTo>
                  <a:pt x="0" y="0"/>
                </a:lnTo>
                <a:lnTo>
                  <a:pt x="0" y="70650"/>
                </a:lnTo>
                <a:lnTo>
                  <a:pt x="13678" y="155673"/>
                </a:lnTo>
                <a:lnTo>
                  <a:pt x="37547" y="310664"/>
                </a:lnTo>
                <a:lnTo>
                  <a:pt x="60911" y="466340"/>
                </a:lnTo>
                <a:lnTo>
                  <a:pt x="80914" y="622703"/>
                </a:lnTo>
                <a:lnTo>
                  <a:pt x="101085" y="778379"/>
                </a:lnTo>
                <a:lnTo>
                  <a:pt x="119911" y="934742"/>
                </a:lnTo>
                <a:lnTo>
                  <a:pt x="136047" y="1089047"/>
                </a:lnTo>
                <a:lnTo>
                  <a:pt x="151343" y="1245409"/>
                </a:lnTo>
                <a:lnTo>
                  <a:pt x="165295" y="1401086"/>
                </a:lnTo>
                <a:lnTo>
                  <a:pt x="177397" y="1554019"/>
                </a:lnTo>
                <a:lnTo>
                  <a:pt x="189500" y="1709010"/>
                </a:lnTo>
                <a:lnTo>
                  <a:pt x="199585" y="1861943"/>
                </a:lnTo>
                <a:lnTo>
                  <a:pt x="207485" y="2014877"/>
                </a:lnTo>
                <a:lnTo>
                  <a:pt x="215722" y="2167124"/>
                </a:lnTo>
                <a:lnTo>
                  <a:pt x="222613" y="2318000"/>
                </a:lnTo>
                <a:lnTo>
                  <a:pt x="227488" y="2467505"/>
                </a:lnTo>
                <a:lnTo>
                  <a:pt x="231690" y="2617009"/>
                </a:lnTo>
                <a:lnTo>
                  <a:pt x="235724" y="2765142"/>
                </a:lnTo>
                <a:lnTo>
                  <a:pt x="237573" y="2911217"/>
                </a:lnTo>
                <a:lnTo>
                  <a:pt x="239590" y="3057293"/>
                </a:lnTo>
                <a:lnTo>
                  <a:pt x="240599" y="3201311"/>
                </a:lnTo>
                <a:lnTo>
                  <a:pt x="239590" y="3343957"/>
                </a:lnTo>
                <a:lnTo>
                  <a:pt x="239590" y="3485232"/>
                </a:lnTo>
                <a:lnTo>
                  <a:pt x="237573" y="3625135"/>
                </a:lnTo>
                <a:lnTo>
                  <a:pt x="234548" y="3762295"/>
                </a:lnTo>
                <a:lnTo>
                  <a:pt x="231690" y="3898083"/>
                </a:lnTo>
                <a:lnTo>
                  <a:pt x="228496" y="4031129"/>
                </a:lnTo>
                <a:lnTo>
                  <a:pt x="223622" y="4163488"/>
                </a:lnTo>
                <a:lnTo>
                  <a:pt x="218411" y="4293789"/>
                </a:lnTo>
                <a:lnTo>
                  <a:pt x="213705" y="4421348"/>
                </a:lnTo>
                <a:lnTo>
                  <a:pt x="200425" y="4670294"/>
                </a:lnTo>
                <a:lnTo>
                  <a:pt x="186306" y="4908952"/>
                </a:lnTo>
                <a:lnTo>
                  <a:pt x="171514" y="5138009"/>
                </a:lnTo>
                <a:lnTo>
                  <a:pt x="155209" y="5354722"/>
                </a:lnTo>
                <a:lnTo>
                  <a:pt x="138232" y="5561834"/>
                </a:lnTo>
                <a:lnTo>
                  <a:pt x="119911" y="5753858"/>
                </a:lnTo>
                <a:lnTo>
                  <a:pt x="101925" y="5934223"/>
                </a:lnTo>
                <a:lnTo>
                  <a:pt x="83940" y="6100187"/>
                </a:lnTo>
                <a:lnTo>
                  <a:pt x="66963" y="6252434"/>
                </a:lnTo>
                <a:lnTo>
                  <a:pt x="50826" y="6387537"/>
                </a:lnTo>
                <a:lnTo>
                  <a:pt x="35530" y="6509609"/>
                </a:lnTo>
                <a:lnTo>
                  <a:pt x="22755" y="6612479"/>
                </a:lnTo>
                <a:lnTo>
                  <a:pt x="10653" y="6698890"/>
                </a:lnTo>
                <a:lnTo>
                  <a:pt x="0" y="6771890"/>
                </a:lnTo>
                <a:lnTo>
                  <a:pt x="0" y="6858000"/>
                </a:lnTo>
                <a:lnTo>
                  <a:pt x="4470448" y="6858000"/>
                </a:lnTo>
                <a:lnTo>
                  <a:pt x="4654296" y="6858000"/>
                </a:lnTo>
                <a:lnTo>
                  <a:pt x="5297762" y="6858000"/>
                </a:lnTo>
                <a:close/>
              </a:path>
            </a:pathLst>
          </a:custGeom>
          <a:solidFill>
            <a:schemeClr val="bg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2" y="1721008"/>
            <a:ext cx="2976369" cy="3539173"/>
          </a:xfrm>
        </p:spPr>
        <p:txBody>
          <a:bodyPr anchor="ctr">
            <a:normAutofit/>
          </a:bodyPr>
          <a:lstStyle/>
          <a:p>
            <a:r>
              <a:t>Booleans are either True or False.</a:t>
            </a:r>
          </a:p>
          <a:p>
            <a:r>
              <a:t>Used to test conditions and control flow.</a:t>
            </a:r>
          </a:p>
          <a:p>
            <a:endParaRPr/>
          </a:p>
          <a:p>
            <a:r>
              <a:t>Examples:</a:t>
            </a:r>
          </a:p>
          <a:p>
            <a:r>
              <a:t>- 5 &gt; 3 → True</a:t>
            </a:r>
          </a:p>
          <a:p>
            <a:r>
              <a:t>- 2 == 4 → False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1314450"/>
            <a:ext cx="5856105" cy="824593"/>
          </a:xfrm>
        </p:spPr>
        <p:txBody>
          <a:bodyPr anchor="b">
            <a:normAutofit/>
          </a:bodyPr>
          <a:lstStyle/>
          <a:p>
            <a:r>
              <a:rPr lang="en-US" sz="3000"/>
              <a:t>Comparison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3900" y="2463801"/>
            <a:ext cx="5856105" cy="2736850"/>
          </a:xfrm>
        </p:spPr>
        <p:txBody>
          <a:bodyPr anchor="t">
            <a:normAutofit/>
          </a:bodyPr>
          <a:lstStyle/>
          <a:p>
            <a:r>
              <a:t>== Equal to</a:t>
            </a:r>
          </a:p>
          <a:p>
            <a:r>
              <a:t>!= Not equal to</a:t>
            </a:r>
          </a:p>
          <a:p>
            <a:r>
              <a:t>&gt; Greater than</a:t>
            </a:r>
          </a:p>
          <a:p>
            <a:r>
              <a:t>&lt; Less than</a:t>
            </a:r>
          </a:p>
          <a:p>
            <a:r>
              <a:t>&gt;= Greater or equal</a:t>
            </a:r>
          </a:p>
          <a:p>
            <a:r>
              <a:t>&lt;= Less or equal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0E53EDA-3B94-4F6B-9E86-D3BB9EBB9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719807"/>
            <a:ext cx="2744542" cy="3418387"/>
          </a:xfrm>
        </p:spPr>
        <p:txBody>
          <a:bodyPr>
            <a:normAutofit/>
          </a:bodyPr>
          <a:lstStyle/>
          <a:p>
            <a:pPr algn="r"/>
            <a:r>
              <a:t>Type Conversion to Boolean</a:t>
            </a:r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EFD79F-7790-479B-B7DB-BD0D8C101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00192" y="2108835"/>
            <a:ext cx="0" cy="264033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1494" y="1719807"/>
            <a:ext cx="4888157" cy="3418387"/>
          </a:xfrm>
        </p:spPr>
        <p:txBody>
          <a:bodyPr>
            <a:normAutofit/>
          </a:bodyPr>
          <a:lstStyle/>
          <a:p>
            <a:r>
              <a:rPr dirty="0"/>
              <a:t>bool(0) → False</a:t>
            </a:r>
          </a:p>
          <a:p>
            <a:r>
              <a:rPr dirty="0"/>
              <a:t>bool(1) → True</a:t>
            </a:r>
          </a:p>
          <a:p>
            <a:r>
              <a:rPr dirty="0"/>
              <a:t>bool('') → False</a:t>
            </a:r>
          </a:p>
          <a:p>
            <a:r>
              <a:rPr dirty="0"/>
              <a:t>bool('Hello') → True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E0ABA0-ABBF-5152-D866-ABE8719613F8}"/>
              </a:ext>
            </a:extLst>
          </p:cNvPr>
          <p:cNvSpPr txBox="1"/>
          <p:nvPr/>
        </p:nvSpPr>
        <p:spPr>
          <a:xfrm>
            <a:off x="5082988" y="6247362"/>
            <a:ext cx="3738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***Truthy &amp; </a:t>
            </a:r>
            <a:r>
              <a:rPr lang="en-US" dirty="0" err="1"/>
              <a:t>falsy</a:t>
            </a:r>
            <a:r>
              <a:rPr lang="en-US" dirty="0"/>
              <a:t> appendix***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Logical Operators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A25AC04-32BA-F22A-DA3C-EE5775BF888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2142068"/>
          <a:ext cx="7772400" cy="3649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Boolean Logic: AND vs OR (Truth Table)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6211423"/>
              </p:ext>
            </p:extLst>
          </p:nvPr>
        </p:nvGraphicFramePr>
        <p:xfrm>
          <a:off x="1143001" y="2947595"/>
          <a:ext cx="6400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A and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A or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rPr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2000"/>
                      </a:pPr>
                      <a:r>
                        <a:rPr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NOT and Short-Circuiting 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2460329"/>
              </p:ext>
            </p:extLst>
          </p:nvPr>
        </p:nvGraphicFramePr>
        <p:xfrm>
          <a:off x="1035424" y="2702859"/>
          <a:ext cx="640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Expression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t>not 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dirty="0"/>
                        <a:t>not 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t>False and print('Skipped')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t>False (print skipped)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t>True or print('Skipped')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dirty="0"/>
                        <a:t>True (print skipped)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A166780-9337-4437-95D3-5EA9D55AAA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3D0F40-BF1F-4120-945D-90C5AAD6E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81" y="0"/>
            <a:ext cx="3490721" cy="6856214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5640A69-3748-450C-8DDB-B2051AC04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893"/>
          <a:stretch/>
        </p:blipFill>
        <p:spPr>
          <a:xfrm>
            <a:off x="0" y="0"/>
            <a:ext cx="3483577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43466"/>
            <a:ext cx="2513648" cy="499533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Short-Circuit Evaluation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6F4F323-644B-4A47-97E9-BFB73840F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8340" y="-2"/>
            <a:ext cx="5653278" cy="68562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8A97C11-ED74-CD9E-911F-F3472D25E2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1551375"/>
              </p:ext>
            </p:extLst>
          </p:nvPr>
        </p:nvGraphicFramePr>
        <p:xfrm>
          <a:off x="3838183" y="804670"/>
          <a:ext cx="5653277" cy="56230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6593" y="639097"/>
            <a:ext cx="4944806" cy="1612490"/>
          </a:xfrm>
        </p:spPr>
        <p:txBody>
          <a:bodyPr>
            <a:normAutofit/>
          </a:bodyPr>
          <a:lstStyle/>
          <a:p>
            <a:r>
              <a:t>The if Statement</a:t>
            </a:r>
          </a:p>
        </p:txBody>
      </p:sp>
      <p:pic>
        <p:nvPicPr>
          <p:cNvPr id="5" name="Picture 4" descr="A hand holding a pen and shading circles on a sheet">
            <a:extLst>
              <a:ext uri="{FF2B5EF4-FFF2-40B4-BE49-F238E27FC236}">
                <a16:creationId xmlns:a16="http://schemas.microsoft.com/office/drawing/2014/main" id="{650EA436-25BE-DEB6-19A0-303D4D72AD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469" r="22998" b="-2"/>
          <a:stretch/>
        </p:blipFill>
        <p:spPr>
          <a:xfrm>
            <a:off x="20" y="975"/>
            <a:ext cx="3476986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6593" y="2251587"/>
            <a:ext cx="4944806" cy="3972232"/>
          </a:xfrm>
        </p:spPr>
        <p:txBody>
          <a:bodyPr>
            <a:normAutofit/>
          </a:bodyPr>
          <a:lstStyle/>
          <a:p>
            <a:r>
              <a:t>Basic form:</a:t>
            </a:r>
          </a:p>
          <a:p>
            <a:r>
              <a:t>if condition:</a:t>
            </a:r>
          </a:p>
          <a:p>
            <a:r>
              <a:t>    do something</a:t>
            </a:r>
          </a:p>
          <a:p>
            <a:endParaRPr/>
          </a:p>
          <a:p>
            <a:r>
              <a:t>Only runs the block if the condition is True.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6B5BE70-4451-4286-9D79-27C26F755F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76C668-3F88-414B-AAEE-1785E38D5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55921" y="1721008"/>
            <a:ext cx="3914173" cy="3415985"/>
          </a:xfrm>
        </p:spPr>
        <p:txBody>
          <a:bodyPr anchor="ctr">
            <a:normAutofit/>
          </a:bodyPr>
          <a:lstStyle/>
          <a:p>
            <a:r>
              <a:rPr lang="en-US" sz="3600"/>
              <a:t>if, elif, else Chains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58C5A54-E70B-4B9B-A7FE-D3A05561BF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857250"/>
            <a:ext cx="3973322" cy="5143500"/>
          </a:xfrm>
          <a:custGeom>
            <a:avLst/>
            <a:gdLst>
              <a:gd name="connsiteX0" fmla="*/ 5297762 w 5297762"/>
              <a:gd name="connsiteY0" fmla="*/ 0 h 6858000"/>
              <a:gd name="connsiteX1" fmla="*/ 4654296 w 5297762"/>
              <a:gd name="connsiteY1" fmla="*/ 0 h 6858000"/>
              <a:gd name="connsiteX2" fmla="*/ 4470448 w 5297762"/>
              <a:gd name="connsiteY2" fmla="*/ 0 h 6858000"/>
              <a:gd name="connsiteX3" fmla="*/ 0 w 5297762"/>
              <a:gd name="connsiteY3" fmla="*/ 0 h 6858000"/>
              <a:gd name="connsiteX4" fmla="*/ 0 w 5297762"/>
              <a:gd name="connsiteY4" fmla="*/ 70650 h 6858000"/>
              <a:gd name="connsiteX5" fmla="*/ 13678 w 5297762"/>
              <a:gd name="connsiteY5" fmla="*/ 155673 h 6858000"/>
              <a:gd name="connsiteX6" fmla="*/ 37547 w 5297762"/>
              <a:gd name="connsiteY6" fmla="*/ 310664 h 6858000"/>
              <a:gd name="connsiteX7" fmla="*/ 60911 w 5297762"/>
              <a:gd name="connsiteY7" fmla="*/ 466340 h 6858000"/>
              <a:gd name="connsiteX8" fmla="*/ 80914 w 5297762"/>
              <a:gd name="connsiteY8" fmla="*/ 622703 h 6858000"/>
              <a:gd name="connsiteX9" fmla="*/ 101085 w 5297762"/>
              <a:gd name="connsiteY9" fmla="*/ 778379 h 6858000"/>
              <a:gd name="connsiteX10" fmla="*/ 119911 w 5297762"/>
              <a:gd name="connsiteY10" fmla="*/ 934742 h 6858000"/>
              <a:gd name="connsiteX11" fmla="*/ 136047 w 5297762"/>
              <a:gd name="connsiteY11" fmla="*/ 1089047 h 6858000"/>
              <a:gd name="connsiteX12" fmla="*/ 151343 w 5297762"/>
              <a:gd name="connsiteY12" fmla="*/ 1245409 h 6858000"/>
              <a:gd name="connsiteX13" fmla="*/ 165295 w 5297762"/>
              <a:gd name="connsiteY13" fmla="*/ 1401086 h 6858000"/>
              <a:gd name="connsiteX14" fmla="*/ 177397 w 5297762"/>
              <a:gd name="connsiteY14" fmla="*/ 1554019 h 6858000"/>
              <a:gd name="connsiteX15" fmla="*/ 189500 w 5297762"/>
              <a:gd name="connsiteY15" fmla="*/ 1709010 h 6858000"/>
              <a:gd name="connsiteX16" fmla="*/ 199585 w 5297762"/>
              <a:gd name="connsiteY16" fmla="*/ 1861943 h 6858000"/>
              <a:gd name="connsiteX17" fmla="*/ 207485 w 5297762"/>
              <a:gd name="connsiteY17" fmla="*/ 2014877 h 6858000"/>
              <a:gd name="connsiteX18" fmla="*/ 215722 w 5297762"/>
              <a:gd name="connsiteY18" fmla="*/ 2167124 h 6858000"/>
              <a:gd name="connsiteX19" fmla="*/ 222613 w 5297762"/>
              <a:gd name="connsiteY19" fmla="*/ 2318000 h 6858000"/>
              <a:gd name="connsiteX20" fmla="*/ 227488 w 5297762"/>
              <a:gd name="connsiteY20" fmla="*/ 2467505 h 6858000"/>
              <a:gd name="connsiteX21" fmla="*/ 231690 w 5297762"/>
              <a:gd name="connsiteY21" fmla="*/ 2617009 h 6858000"/>
              <a:gd name="connsiteX22" fmla="*/ 235724 w 5297762"/>
              <a:gd name="connsiteY22" fmla="*/ 2765142 h 6858000"/>
              <a:gd name="connsiteX23" fmla="*/ 237573 w 5297762"/>
              <a:gd name="connsiteY23" fmla="*/ 2911217 h 6858000"/>
              <a:gd name="connsiteX24" fmla="*/ 239590 w 5297762"/>
              <a:gd name="connsiteY24" fmla="*/ 3057293 h 6858000"/>
              <a:gd name="connsiteX25" fmla="*/ 240599 w 5297762"/>
              <a:gd name="connsiteY25" fmla="*/ 3201311 h 6858000"/>
              <a:gd name="connsiteX26" fmla="*/ 239590 w 5297762"/>
              <a:gd name="connsiteY26" fmla="*/ 3343957 h 6858000"/>
              <a:gd name="connsiteX27" fmla="*/ 239590 w 5297762"/>
              <a:gd name="connsiteY27" fmla="*/ 3485232 h 6858000"/>
              <a:gd name="connsiteX28" fmla="*/ 237573 w 5297762"/>
              <a:gd name="connsiteY28" fmla="*/ 3625135 h 6858000"/>
              <a:gd name="connsiteX29" fmla="*/ 234548 w 5297762"/>
              <a:gd name="connsiteY29" fmla="*/ 3762295 h 6858000"/>
              <a:gd name="connsiteX30" fmla="*/ 231690 w 5297762"/>
              <a:gd name="connsiteY30" fmla="*/ 3898083 h 6858000"/>
              <a:gd name="connsiteX31" fmla="*/ 228496 w 5297762"/>
              <a:gd name="connsiteY31" fmla="*/ 4031129 h 6858000"/>
              <a:gd name="connsiteX32" fmla="*/ 223622 w 5297762"/>
              <a:gd name="connsiteY32" fmla="*/ 4163488 h 6858000"/>
              <a:gd name="connsiteX33" fmla="*/ 218411 w 5297762"/>
              <a:gd name="connsiteY33" fmla="*/ 4293789 h 6858000"/>
              <a:gd name="connsiteX34" fmla="*/ 213705 w 5297762"/>
              <a:gd name="connsiteY34" fmla="*/ 4421348 h 6858000"/>
              <a:gd name="connsiteX35" fmla="*/ 200425 w 5297762"/>
              <a:gd name="connsiteY35" fmla="*/ 4670294 h 6858000"/>
              <a:gd name="connsiteX36" fmla="*/ 186306 w 5297762"/>
              <a:gd name="connsiteY36" fmla="*/ 4908952 h 6858000"/>
              <a:gd name="connsiteX37" fmla="*/ 171514 w 5297762"/>
              <a:gd name="connsiteY37" fmla="*/ 5138009 h 6858000"/>
              <a:gd name="connsiteX38" fmla="*/ 155209 w 5297762"/>
              <a:gd name="connsiteY38" fmla="*/ 5354722 h 6858000"/>
              <a:gd name="connsiteX39" fmla="*/ 138232 w 5297762"/>
              <a:gd name="connsiteY39" fmla="*/ 5561834 h 6858000"/>
              <a:gd name="connsiteX40" fmla="*/ 119911 w 5297762"/>
              <a:gd name="connsiteY40" fmla="*/ 5753858 h 6858000"/>
              <a:gd name="connsiteX41" fmla="*/ 101925 w 5297762"/>
              <a:gd name="connsiteY41" fmla="*/ 5934223 h 6858000"/>
              <a:gd name="connsiteX42" fmla="*/ 83940 w 5297762"/>
              <a:gd name="connsiteY42" fmla="*/ 6100187 h 6858000"/>
              <a:gd name="connsiteX43" fmla="*/ 66963 w 5297762"/>
              <a:gd name="connsiteY43" fmla="*/ 6252434 h 6858000"/>
              <a:gd name="connsiteX44" fmla="*/ 50826 w 5297762"/>
              <a:gd name="connsiteY44" fmla="*/ 6387537 h 6858000"/>
              <a:gd name="connsiteX45" fmla="*/ 35530 w 5297762"/>
              <a:gd name="connsiteY45" fmla="*/ 6509609 h 6858000"/>
              <a:gd name="connsiteX46" fmla="*/ 22755 w 5297762"/>
              <a:gd name="connsiteY46" fmla="*/ 6612479 h 6858000"/>
              <a:gd name="connsiteX47" fmla="*/ 10653 w 5297762"/>
              <a:gd name="connsiteY47" fmla="*/ 6698890 h 6858000"/>
              <a:gd name="connsiteX48" fmla="*/ 0 w 5297762"/>
              <a:gd name="connsiteY48" fmla="*/ 6771890 h 6858000"/>
              <a:gd name="connsiteX49" fmla="*/ 0 w 5297762"/>
              <a:gd name="connsiteY49" fmla="*/ 6858000 h 6858000"/>
              <a:gd name="connsiteX50" fmla="*/ 4470448 w 5297762"/>
              <a:gd name="connsiteY50" fmla="*/ 6858000 h 6858000"/>
              <a:gd name="connsiteX51" fmla="*/ 4654296 w 5297762"/>
              <a:gd name="connsiteY51" fmla="*/ 6858000 h 6858000"/>
              <a:gd name="connsiteX52" fmla="*/ 5297762 w 5297762"/>
              <a:gd name="connsiteY5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5297762" h="6858000">
                <a:moveTo>
                  <a:pt x="5297762" y="0"/>
                </a:moveTo>
                <a:lnTo>
                  <a:pt x="4654296" y="0"/>
                </a:lnTo>
                <a:lnTo>
                  <a:pt x="4470448" y="0"/>
                </a:lnTo>
                <a:lnTo>
                  <a:pt x="0" y="0"/>
                </a:lnTo>
                <a:lnTo>
                  <a:pt x="0" y="70650"/>
                </a:lnTo>
                <a:lnTo>
                  <a:pt x="13678" y="155673"/>
                </a:lnTo>
                <a:lnTo>
                  <a:pt x="37547" y="310664"/>
                </a:lnTo>
                <a:lnTo>
                  <a:pt x="60911" y="466340"/>
                </a:lnTo>
                <a:lnTo>
                  <a:pt x="80914" y="622703"/>
                </a:lnTo>
                <a:lnTo>
                  <a:pt x="101085" y="778379"/>
                </a:lnTo>
                <a:lnTo>
                  <a:pt x="119911" y="934742"/>
                </a:lnTo>
                <a:lnTo>
                  <a:pt x="136047" y="1089047"/>
                </a:lnTo>
                <a:lnTo>
                  <a:pt x="151343" y="1245409"/>
                </a:lnTo>
                <a:lnTo>
                  <a:pt x="165295" y="1401086"/>
                </a:lnTo>
                <a:lnTo>
                  <a:pt x="177397" y="1554019"/>
                </a:lnTo>
                <a:lnTo>
                  <a:pt x="189500" y="1709010"/>
                </a:lnTo>
                <a:lnTo>
                  <a:pt x="199585" y="1861943"/>
                </a:lnTo>
                <a:lnTo>
                  <a:pt x="207485" y="2014877"/>
                </a:lnTo>
                <a:lnTo>
                  <a:pt x="215722" y="2167124"/>
                </a:lnTo>
                <a:lnTo>
                  <a:pt x="222613" y="2318000"/>
                </a:lnTo>
                <a:lnTo>
                  <a:pt x="227488" y="2467505"/>
                </a:lnTo>
                <a:lnTo>
                  <a:pt x="231690" y="2617009"/>
                </a:lnTo>
                <a:lnTo>
                  <a:pt x="235724" y="2765142"/>
                </a:lnTo>
                <a:lnTo>
                  <a:pt x="237573" y="2911217"/>
                </a:lnTo>
                <a:lnTo>
                  <a:pt x="239590" y="3057293"/>
                </a:lnTo>
                <a:lnTo>
                  <a:pt x="240599" y="3201311"/>
                </a:lnTo>
                <a:lnTo>
                  <a:pt x="239590" y="3343957"/>
                </a:lnTo>
                <a:lnTo>
                  <a:pt x="239590" y="3485232"/>
                </a:lnTo>
                <a:lnTo>
                  <a:pt x="237573" y="3625135"/>
                </a:lnTo>
                <a:lnTo>
                  <a:pt x="234548" y="3762295"/>
                </a:lnTo>
                <a:lnTo>
                  <a:pt x="231690" y="3898083"/>
                </a:lnTo>
                <a:lnTo>
                  <a:pt x="228496" y="4031129"/>
                </a:lnTo>
                <a:lnTo>
                  <a:pt x="223622" y="4163488"/>
                </a:lnTo>
                <a:lnTo>
                  <a:pt x="218411" y="4293789"/>
                </a:lnTo>
                <a:lnTo>
                  <a:pt x="213705" y="4421348"/>
                </a:lnTo>
                <a:lnTo>
                  <a:pt x="200425" y="4670294"/>
                </a:lnTo>
                <a:lnTo>
                  <a:pt x="186306" y="4908952"/>
                </a:lnTo>
                <a:lnTo>
                  <a:pt x="171514" y="5138009"/>
                </a:lnTo>
                <a:lnTo>
                  <a:pt x="155209" y="5354722"/>
                </a:lnTo>
                <a:lnTo>
                  <a:pt x="138232" y="5561834"/>
                </a:lnTo>
                <a:lnTo>
                  <a:pt x="119911" y="5753858"/>
                </a:lnTo>
                <a:lnTo>
                  <a:pt x="101925" y="5934223"/>
                </a:lnTo>
                <a:lnTo>
                  <a:pt x="83940" y="6100187"/>
                </a:lnTo>
                <a:lnTo>
                  <a:pt x="66963" y="6252434"/>
                </a:lnTo>
                <a:lnTo>
                  <a:pt x="50826" y="6387537"/>
                </a:lnTo>
                <a:lnTo>
                  <a:pt x="35530" y="6509609"/>
                </a:lnTo>
                <a:lnTo>
                  <a:pt x="22755" y="6612479"/>
                </a:lnTo>
                <a:lnTo>
                  <a:pt x="10653" y="6698890"/>
                </a:lnTo>
                <a:lnTo>
                  <a:pt x="0" y="6771890"/>
                </a:lnTo>
                <a:lnTo>
                  <a:pt x="0" y="6858000"/>
                </a:lnTo>
                <a:lnTo>
                  <a:pt x="4470448" y="6858000"/>
                </a:lnTo>
                <a:lnTo>
                  <a:pt x="4654296" y="6858000"/>
                </a:lnTo>
                <a:lnTo>
                  <a:pt x="5297762" y="6858000"/>
                </a:lnTo>
                <a:close/>
              </a:path>
            </a:pathLst>
          </a:custGeom>
          <a:solidFill>
            <a:schemeClr val="bg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2" y="1721008"/>
            <a:ext cx="2976369" cy="3539173"/>
          </a:xfrm>
        </p:spPr>
        <p:txBody>
          <a:bodyPr anchor="ctr">
            <a:normAutofit/>
          </a:bodyPr>
          <a:lstStyle/>
          <a:p>
            <a:r>
              <a:t>Multiple branches:</a:t>
            </a:r>
          </a:p>
          <a:p>
            <a:r>
              <a:t>if condition:</a:t>
            </a:r>
          </a:p>
          <a:p>
            <a:r>
              <a:t>    ...</a:t>
            </a:r>
          </a:p>
          <a:p>
            <a:r>
              <a:t>elif condition:</a:t>
            </a:r>
          </a:p>
          <a:p>
            <a:r>
              <a:t>    ...</a:t>
            </a:r>
          </a:p>
          <a:p>
            <a:r>
              <a:t>else:</a:t>
            </a:r>
          </a:p>
          <a:p>
            <a:r>
              <a:t>    ...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0E53EDA-3B94-4F6B-9E86-D3BB9EBB9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719807"/>
            <a:ext cx="2744542" cy="3418387"/>
          </a:xfrm>
        </p:spPr>
        <p:txBody>
          <a:bodyPr>
            <a:normAutofit/>
          </a:bodyPr>
          <a:lstStyle/>
          <a:p>
            <a:pPr algn="r"/>
            <a:r>
              <a:rPr lang="en-US"/>
              <a:t>Nested Conditionals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0EFD79F-7790-479B-B7DB-BD0D8C101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00192" y="2108835"/>
            <a:ext cx="0" cy="264033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1494" y="1719807"/>
            <a:ext cx="4888157" cy="3418387"/>
          </a:xfrm>
        </p:spPr>
        <p:txBody>
          <a:bodyPr>
            <a:normAutofit/>
          </a:bodyPr>
          <a:lstStyle/>
          <a:p>
            <a:r>
              <a:t>You can place one if inside another.</a:t>
            </a:r>
          </a:p>
          <a:p>
            <a:endParaRPr/>
          </a:p>
          <a:p>
            <a:r>
              <a:t>Use carefully — too much nesting reduces readability.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202EC-2A2B-14E3-F13A-BA3356018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3083"/>
            <a:ext cx="7772400" cy="1456267"/>
          </a:xfrm>
        </p:spPr>
        <p:txBody>
          <a:bodyPr/>
          <a:lstStyle/>
          <a:p>
            <a:pPr algn="ctr"/>
            <a:r>
              <a:rPr lang="en-US" dirty="0"/>
              <a:t>Nested IF 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2B3725-A0AA-AADA-C4B5-CDCF460F27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8920" y="2065868"/>
            <a:ext cx="8658818" cy="4182531"/>
          </a:xfrm>
        </p:spPr>
      </p:pic>
    </p:spTree>
    <p:extLst>
      <p:ext uri="{BB962C8B-B14F-4D97-AF65-F5344CB8AC3E}">
        <p14:creationId xmlns:p14="http://schemas.microsoft.com/office/powerpoint/2010/main" val="19204649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6593" y="639097"/>
            <a:ext cx="4944806" cy="1612490"/>
          </a:xfrm>
        </p:spPr>
        <p:txBody>
          <a:bodyPr>
            <a:normAutofit/>
          </a:bodyPr>
          <a:lstStyle/>
          <a:p>
            <a:r>
              <a:t>The while Loop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3FC852-FE55-BE93-D3DF-9D260FE277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041" r="35314" b="-445"/>
          <a:stretch/>
        </p:blipFill>
        <p:spPr>
          <a:xfrm>
            <a:off x="20" y="975"/>
            <a:ext cx="3476986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6593" y="2251587"/>
            <a:ext cx="4944806" cy="3972232"/>
          </a:xfrm>
        </p:spPr>
        <p:txBody>
          <a:bodyPr>
            <a:normAutofit/>
          </a:bodyPr>
          <a:lstStyle/>
          <a:p>
            <a:r>
              <a:rPr sz="2800" dirty="0"/>
              <a:t>Repeats as long as the condition is True.</a:t>
            </a:r>
          </a:p>
          <a:p>
            <a:endParaRPr sz="2800" dirty="0"/>
          </a:p>
          <a:p>
            <a:r>
              <a:rPr sz="2800" dirty="0"/>
              <a:t>Example:</a:t>
            </a:r>
          </a:p>
          <a:p>
            <a:r>
              <a:rPr sz="2800" dirty="0"/>
              <a:t>while input != 'exit':</a:t>
            </a:r>
          </a:p>
          <a:p>
            <a:r>
              <a:rPr sz="2800" dirty="0"/>
              <a:t>    ask again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glowing rings&#10;&#10;AI-generated content may be incorrect.">
            <a:extLst>
              <a:ext uri="{FF2B5EF4-FFF2-40B4-BE49-F238E27FC236}">
                <a16:creationId xmlns:a16="http://schemas.microsoft.com/office/drawing/2014/main" id="{290ECF89-5B0E-9C04-5B69-EB7450A9FF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20" r="7848" b="2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8B7D16-051E-4562-B872-ABF369C457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8" cy="6856214"/>
          </a:xfrm>
          <a:prstGeom prst="rect">
            <a:avLst/>
          </a:prstGeom>
        </p:spPr>
      </p:pic>
      <p:sp>
        <p:nvSpPr>
          <p:cNvPr id="12" name="Freeform 5">
            <a:extLst>
              <a:ext uri="{FF2B5EF4-FFF2-40B4-BE49-F238E27FC236}">
                <a16:creationId xmlns:a16="http://schemas.microsoft.com/office/drawing/2014/main" id="{ED10CF64-F588-4794-80E9-12CBA1784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387349" y="-18309"/>
            <a:ext cx="8369301" cy="6894618"/>
          </a:xfrm>
          <a:custGeom>
            <a:avLst/>
            <a:gdLst>
              <a:gd name="T0" fmla="*/ 2331 w 2331"/>
              <a:gd name="T1" fmla="*/ 721 h 1440"/>
              <a:gd name="T2" fmla="*/ 2082 w 2331"/>
              <a:gd name="T3" fmla="*/ 0 h 1440"/>
              <a:gd name="T4" fmla="*/ 249 w 2331"/>
              <a:gd name="T5" fmla="*/ 0 h 1440"/>
              <a:gd name="T6" fmla="*/ 0 w 2331"/>
              <a:gd name="T7" fmla="*/ 721 h 1440"/>
              <a:gd name="T8" fmla="*/ 248 w 2331"/>
              <a:gd name="T9" fmla="*/ 1440 h 1440"/>
              <a:gd name="T10" fmla="*/ 2083 w 2331"/>
              <a:gd name="T11" fmla="*/ 1440 h 1440"/>
              <a:gd name="T12" fmla="*/ 2331 w 2331"/>
              <a:gd name="T13" fmla="*/ 721 h 1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31" h="1440">
                <a:moveTo>
                  <a:pt x="2331" y="721"/>
                </a:moveTo>
                <a:cubicBezTo>
                  <a:pt x="2331" y="449"/>
                  <a:pt x="2238" y="198"/>
                  <a:pt x="2082" y="0"/>
                </a:cubicBezTo>
                <a:cubicBezTo>
                  <a:pt x="249" y="0"/>
                  <a:pt x="249" y="0"/>
                  <a:pt x="249" y="0"/>
                </a:cubicBezTo>
                <a:cubicBezTo>
                  <a:pt x="93" y="198"/>
                  <a:pt x="0" y="449"/>
                  <a:pt x="0" y="721"/>
                </a:cubicBezTo>
                <a:cubicBezTo>
                  <a:pt x="0" y="992"/>
                  <a:pt x="92" y="1242"/>
                  <a:pt x="248" y="1440"/>
                </a:cubicBezTo>
                <a:cubicBezTo>
                  <a:pt x="2083" y="1440"/>
                  <a:pt x="2083" y="1440"/>
                  <a:pt x="2083" y="1440"/>
                </a:cubicBezTo>
                <a:cubicBezTo>
                  <a:pt x="2239" y="1242"/>
                  <a:pt x="2331" y="992"/>
                  <a:pt x="2331" y="721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74" y="183025"/>
            <a:ext cx="7077869" cy="1227667"/>
          </a:xfrm>
        </p:spPr>
        <p:txBody>
          <a:bodyPr>
            <a:normAutofit/>
          </a:bodyPr>
          <a:lstStyle/>
          <a:p>
            <a:pPr algn="ctr"/>
            <a:r>
              <a:rPr dirty="0"/>
              <a:t>The for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6233" y="1623590"/>
            <a:ext cx="7077869" cy="3784600"/>
          </a:xfrm>
        </p:spPr>
        <p:txBody>
          <a:bodyPr>
            <a:normAutofit/>
          </a:bodyPr>
          <a:lstStyle/>
          <a:p>
            <a:r>
              <a:rPr dirty="0"/>
              <a:t>Loops over a sequence:</a:t>
            </a:r>
          </a:p>
          <a:p>
            <a:r>
              <a:rPr dirty="0"/>
              <a:t>for item in sequence: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    do something</a:t>
            </a:r>
          </a:p>
          <a:p>
            <a:endParaRPr dirty="0"/>
          </a:p>
          <a:p>
            <a:r>
              <a:rPr dirty="0"/>
              <a:t>Common with range():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for </a:t>
            </a:r>
            <a:r>
              <a:rPr dirty="0" err="1"/>
              <a:t>i</a:t>
            </a:r>
            <a:r>
              <a:rPr dirty="0"/>
              <a:t> in range(5):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'for letter in "hello"'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1000"/>
              </a:spcAft>
              <a:defRPr sz="2000"/>
            </a:pPr>
            <a:r>
              <a:t>"hello" is a string, but Python treats it like a sequence:</a:t>
            </a:r>
          </a:p>
          <a:p>
            <a:pPr>
              <a:spcAft>
                <a:spcPts val="1000"/>
              </a:spcAft>
              <a:defRPr sz="2000"/>
            </a:pPr>
            <a:r>
              <a:t>['h', 'e', 'l', 'l', 'o']</a:t>
            </a:r>
          </a:p>
          <a:p>
            <a:pPr>
              <a:spcAft>
                <a:spcPts val="1000"/>
              </a:spcAft>
              <a:defRPr sz="2000"/>
            </a:pPr>
            <a:endParaRPr/>
          </a:p>
          <a:p>
            <a:pPr>
              <a:spcAft>
                <a:spcPts val="1000"/>
              </a:spcAft>
              <a:defRPr sz="2000"/>
            </a:pPr>
            <a:r>
              <a:t>The for loop pulls one character at a time:</a:t>
            </a:r>
          </a:p>
          <a:p>
            <a:pPr>
              <a:spcAft>
                <a:spcPts val="1000"/>
              </a:spcAft>
              <a:defRPr sz="2000"/>
            </a:pPr>
            <a:r>
              <a:t>for letter in "hello":</a:t>
            </a:r>
          </a:p>
          <a:p>
            <a:pPr>
              <a:spcAft>
                <a:spcPts val="1000"/>
              </a:spcAft>
              <a:defRPr sz="2000"/>
            </a:pPr>
            <a:r>
              <a:t>    print(letter)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14865"/>
            <a:ext cx="7772400" cy="1456267"/>
          </a:xfrm>
        </p:spPr>
        <p:txBody>
          <a:bodyPr/>
          <a:lstStyle/>
          <a:p>
            <a:pPr algn="ctr"/>
            <a:r>
              <a:rPr dirty="0"/>
              <a:t>Step-by-Step Execution of the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65868"/>
            <a:ext cx="7772400" cy="3649133"/>
          </a:xfrm>
        </p:spPr>
        <p:txBody>
          <a:bodyPr>
            <a:normAutofit fontScale="85000" lnSpcReduction="20000"/>
          </a:bodyPr>
          <a:lstStyle/>
          <a:p>
            <a:endParaRPr dirty="0"/>
          </a:p>
          <a:p>
            <a:pPr>
              <a:spcAft>
                <a:spcPts val="800"/>
              </a:spcAft>
              <a:defRPr sz="2000"/>
            </a:pPr>
            <a:r>
              <a:rPr dirty="0"/>
              <a:t>Loop 1 → letter = 'h' → prints h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Loop 2 → letter = 'e' → prints e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Loop 3 → letter = 'l' → prints l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Loop 4 → letter = 'l' → prints l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Loop 5 → letter = 'o' → prints o</a:t>
            </a:r>
          </a:p>
          <a:p>
            <a:pPr>
              <a:spcAft>
                <a:spcPts val="800"/>
              </a:spcAft>
              <a:defRPr sz="2000"/>
            </a:pPr>
            <a:endParaRPr dirty="0"/>
          </a:p>
          <a:p>
            <a:pPr>
              <a:spcAft>
                <a:spcPts val="800"/>
              </a:spcAft>
              <a:defRPr sz="2000"/>
            </a:pPr>
            <a:r>
              <a:rPr dirty="0"/>
              <a:t>Final output: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h</a:t>
            </a:r>
            <a:br>
              <a:rPr dirty="0"/>
            </a:br>
            <a:r>
              <a:rPr dirty="0"/>
              <a:t>e</a:t>
            </a:r>
            <a:br>
              <a:rPr dirty="0"/>
            </a:br>
            <a:r>
              <a:rPr dirty="0"/>
              <a:t>l</a:t>
            </a:r>
            <a:br>
              <a:rPr dirty="0"/>
            </a:br>
            <a:r>
              <a:rPr dirty="0" err="1"/>
              <a:t>l</a:t>
            </a:r>
            <a:br>
              <a:rPr dirty="0"/>
            </a:br>
            <a:r>
              <a:rPr dirty="0"/>
              <a:t>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break, continue, pass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- break: exits the loop early</a:t>
            </a:r>
          </a:p>
          <a:p>
            <a:r>
              <a:rPr sz="2800" dirty="0"/>
              <a:t>- continue: skips the rest of this loop iteration</a:t>
            </a:r>
          </a:p>
          <a:p>
            <a:r>
              <a:rPr sz="2800" dirty="0"/>
              <a:t>- pass: does nothing (placeholder)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D94887-6A10-4F62-8EE1-B2BCFA1F3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381" y="-1786"/>
            <a:ext cx="9141618" cy="6856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wo white strings one below is tangled while the one above is curved">
            <a:extLst>
              <a:ext uri="{FF2B5EF4-FFF2-40B4-BE49-F238E27FC236}">
                <a16:creationId xmlns:a16="http://schemas.microsoft.com/office/drawing/2014/main" id="{1E301A99-F91D-A4CF-09DB-5C696213748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</a:blip>
          <a:srcRect l="2945" r="6721" b="-1"/>
          <a:stretch/>
        </p:blipFill>
        <p:spPr>
          <a:xfrm>
            <a:off x="1191" y="-4465"/>
            <a:ext cx="9143980" cy="68579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3D512BA-228A-4979-9312-ACD246E10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1" y="893"/>
            <a:ext cx="9141618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762" y="168775"/>
            <a:ext cx="7598569" cy="1456267"/>
          </a:xfrm>
        </p:spPr>
        <p:txBody>
          <a:bodyPr>
            <a:normAutofit/>
          </a:bodyPr>
          <a:lstStyle/>
          <a:p>
            <a:r>
              <a:rPr dirty="0"/>
              <a:t>Combining Loops and Conditionals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9587" y="1601754"/>
            <a:ext cx="7598569" cy="3649133"/>
          </a:xfrm>
        </p:spPr>
        <p:txBody>
          <a:bodyPr>
            <a:normAutofit/>
          </a:bodyPr>
          <a:lstStyle/>
          <a:p>
            <a:r>
              <a:rPr sz="2400" dirty="0"/>
              <a:t>Real logic happens when you mix loops and decisions.</a:t>
            </a:r>
          </a:p>
          <a:p>
            <a:endParaRPr sz="2400" dirty="0"/>
          </a:p>
          <a:p>
            <a:r>
              <a:rPr sz="2400" dirty="0"/>
              <a:t>Example: input validation</a:t>
            </a:r>
          </a:p>
          <a:p>
            <a:r>
              <a:rPr sz="2400" dirty="0"/>
              <a:t>while not valid:</a:t>
            </a:r>
          </a:p>
          <a:p>
            <a:r>
              <a:rPr sz="2400" dirty="0"/>
              <a:t>    if input meets condition: valid = True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1314450"/>
            <a:ext cx="5856105" cy="824593"/>
          </a:xfrm>
        </p:spPr>
        <p:txBody>
          <a:bodyPr anchor="b">
            <a:normAutofit/>
          </a:bodyPr>
          <a:lstStyle/>
          <a:p>
            <a:r>
              <a:rPr lang="en-US" sz="3000" dirty="0"/>
              <a:t>Review &amp;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3900" y="2463801"/>
            <a:ext cx="5856105" cy="2736850"/>
          </a:xfrm>
        </p:spPr>
        <p:txBody>
          <a:bodyPr anchor="t">
            <a:normAutofit/>
          </a:bodyPr>
          <a:lstStyle/>
          <a:p>
            <a:r>
              <a:rPr dirty="0"/>
              <a:t>- What are the 3 types of flow control?</a:t>
            </a:r>
          </a:p>
          <a:p>
            <a:r>
              <a:rPr dirty="0"/>
              <a:t>- What’s the difference between = and ==?</a:t>
            </a:r>
          </a:p>
          <a:p>
            <a:endParaRPr dirty="0"/>
          </a:p>
          <a:p>
            <a:r>
              <a:rPr dirty="0"/>
              <a:t>Quick Check:</a:t>
            </a:r>
            <a:endParaRPr lang="en-US" dirty="0"/>
          </a:p>
          <a:p>
            <a:r>
              <a:rPr lang="en-US" dirty="0"/>
              <a:t>if 3 &gt; 2 and 1 &lt; 4 → 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42A0A1-1CC9-7332-D9DF-DFED834FB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050" y="5131894"/>
            <a:ext cx="5625852" cy="82459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Lab: Flow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Try it out:</a:t>
            </a:r>
          </a:p>
          <a:p>
            <a:r>
              <a:rPr sz="2800" dirty="0"/>
              <a:t>- Build a number guessing game</a:t>
            </a:r>
          </a:p>
          <a:p>
            <a:r>
              <a:rPr sz="2800" dirty="0"/>
              <a:t>- Menu selector (1, 2, 3, exit)</a:t>
            </a:r>
          </a:p>
          <a:p>
            <a:r>
              <a:rPr sz="2800" dirty="0"/>
              <a:t>- Password attempt limiter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121</TotalTime>
  <Words>813</Words>
  <Application>Microsoft Office PowerPoint</Application>
  <PresentationFormat>On-screen Show (4:3)</PresentationFormat>
  <Paragraphs>162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Celestial</vt:lpstr>
      <vt:lpstr>Flow Control in Python</vt:lpstr>
      <vt:lpstr>What Is Flow Control?</vt:lpstr>
      <vt:lpstr>Cooking Analogy: Making a Sandwich</vt:lpstr>
      <vt:lpstr>Why Flow Control Matters</vt:lpstr>
      <vt:lpstr>Types of Flow Control </vt:lpstr>
      <vt:lpstr>Real-World Use Cases</vt:lpstr>
      <vt:lpstr>What’s Next</vt:lpstr>
      <vt:lpstr>Boolean Values and Expressions</vt:lpstr>
      <vt:lpstr>Comparison Operators</vt:lpstr>
      <vt:lpstr>Type Conversion to Boolean</vt:lpstr>
      <vt:lpstr>Logical Operators</vt:lpstr>
      <vt:lpstr>Boolean Logic: AND vs OR (Truth Table)</vt:lpstr>
      <vt:lpstr>NOT and Short-Circuiting </vt:lpstr>
      <vt:lpstr>Short-Circuit Evaluation</vt:lpstr>
      <vt:lpstr>The if Statement</vt:lpstr>
      <vt:lpstr>if, elif, else Chains</vt:lpstr>
      <vt:lpstr>Nested Conditionals</vt:lpstr>
      <vt:lpstr>Nested IF example</vt:lpstr>
      <vt:lpstr>The while Loop</vt:lpstr>
      <vt:lpstr>The for Loop</vt:lpstr>
      <vt:lpstr>Why 'for letter in "hello"' Works</vt:lpstr>
      <vt:lpstr>Step-by-Step Execution of the Loop</vt:lpstr>
      <vt:lpstr>break, continue, pass</vt:lpstr>
      <vt:lpstr>Combining Loops and Conditionals</vt:lpstr>
      <vt:lpstr>Review &amp; Quiz</vt:lpstr>
      <vt:lpstr>Practice Lab: Flow Control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Frank Mora</dc:creator>
  <cp:keywords/>
  <dc:description>generated using python-pptx</dc:description>
  <cp:lastModifiedBy>Frank Mora</cp:lastModifiedBy>
  <cp:revision>2</cp:revision>
  <dcterms:created xsi:type="dcterms:W3CDTF">2013-01-27T09:14:16Z</dcterms:created>
  <dcterms:modified xsi:type="dcterms:W3CDTF">2025-04-14T04:47:45Z</dcterms:modified>
  <cp:category/>
</cp:coreProperties>
</file>