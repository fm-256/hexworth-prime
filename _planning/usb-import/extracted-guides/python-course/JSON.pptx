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468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82FF66-4DBB-483F-A3ED-AA760A39C7B2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9E3A63D-61F6-4377-8EBA-FB0645AF8483}">
      <dgm:prSet/>
      <dgm:spPr/>
      <dgm:t>
        <a:bodyPr/>
        <a:lstStyle/>
        <a:p>
          <a:r>
            <a:rPr lang="en-US" baseline="0"/>
            <a:t>JSON = JavaScript Object Notation</a:t>
          </a:r>
          <a:endParaRPr lang="en-US"/>
        </a:p>
      </dgm:t>
    </dgm:pt>
    <dgm:pt modelId="{274BCC8D-2437-4DBA-8900-ECF37CE6804D}" type="parTrans" cxnId="{C35E8A71-F9D0-47B6-AACC-626986034A12}">
      <dgm:prSet/>
      <dgm:spPr/>
      <dgm:t>
        <a:bodyPr/>
        <a:lstStyle/>
        <a:p>
          <a:endParaRPr lang="en-US"/>
        </a:p>
      </dgm:t>
    </dgm:pt>
    <dgm:pt modelId="{80A8BF3D-E918-4C07-B45F-DA6C8EDAF0D2}" type="sibTrans" cxnId="{C35E8A71-F9D0-47B6-AACC-626986034A12}">
      <dgm:prSet/>
      <dgm:spPr/>
      <dgm:t>
        <a:bodyPr/>
        <a:lstStyle/>
        <a:p>
          <a:endParaRPr lang="en-US"/>
        </a:p>
      </dgm:t>
    </dgm:pt>
    <dgm:pt modelId="{45207E8D-972E-4DAF-9210-102790837D4E}">
      <dgm:prSet/>
      <dgm:spPr/>
      <dgm:t>
        <a:bodyPr/>
        <a:lstStyle/>
        <a:p>
          <a:r>
            <a:rPr lang="en-US" baseline="0"/>
            <a:t>Lightweight format for data storage and transport</a:t>
          </a:r>
          <a:endParaRPr lang="en-US"/>
        </a:p>
      </dgm:t>
    </dgm:pt>
    <dgm:pt modelId="{D347AEF5-57E3-46E0-ACD7-BD440D7A2C4D}" type="parTrans" cxnId="{75EDB020-E5F6-416F-BE1D-313275CF04DE}">
      <dgm:prSet/>
      <dgm:spPr/>
      <dgm:t>
        <a:bodyPr/>
        <a:lstStyle/>
        <a:p>
          <a:endParaRPr lang="en-US"/>
        </a:p>
      </dgm:t>
    </dgm:pt>
    <dgm:pt modelId="{3C860305-686C-4450-ACD4-0C8020DEBDF1}" type="sibTrans" cxnId="{75EDB020-E5F6-416F-BE1D-313275CF04DE}">
      <dgm:prSet/>
      <dgm:spPr/>
      <dgm:t>
        <a:bodyPr/>
        <a:lstStyle/>
        <a:p>
          <a:endParaRPr lang="en-US"/>
        </a:p>
      </dgm:t>
    </dgm:pt>
    <dgm:pt modelId="{EF65267D-ED4A-45D7-A8B7-1CACB4796913}">
      <dgm:prSet/>
      <dgm:spPr/>
      <dgm:t>
        <a:bodyPr/>
        <a:lstStyle/>
        <a:p>
          <a:r>
            <a:rPr lang="en-US" baseline="0"/>
            <a:t>Human-readable, easy for machines to parse</a:t>
          </a:r>
          <a:endParaRPr lang="en-US"/>
        </a:p>
      </dgm:t>
    </dgm:pt>
    <dgm:pt modelId="{6EFD2867-158B-46B5-8EEE-32BB1AE0C6A5}" type="parTrans" cxnId="{4104A8F6-AD2C-4867-97AB-2640A62E72B2}">
      <dgm:prSet/>
      <dgm:spPr/>
      <dgm:t>
        <a:bodyPr/>
        <a:lstStyle/>
        <a:p>
          <a:endParaRPr lang="en-US"/>
        </a:p>
      </dgm:t>
    </dgm:pt>
    <dgm:pt modelId="{B74A7F17-2B9A-465C-B998-25C5F62C18E7}" type="sibTrans" cxnId="{4104A8F6-AD2C-4867-97AB-2640A62E72B2}">
      <dgm:prSet/>
      <dgm:spPr/>
      <dgm:t>
        <a:bodyPr/>
        <a:lstStyle/>
        <a:p>
          <a:endParaRPr lang="en-US"/>
        </a:p>
      </dgm:t>
    </dgm:pt>
    <dgm:pt modelId="{906489D9-58FF-4819-A55B-FE672C7BE995}" type="pres">
      <dgm:prSet presAssocID="{7082FF66-4DBB-483F-A3ED-AA760A39C7B2}" presName="vert0" presStyleCnt="0">
        <dgm:presLayoutVars>
          <dgm:dir/>
          <dgm:animOne val="branch"/>
          <dgm:animLvl val="lvl"/>
        </dgm:presLayoutVars>
      </dgm:prSet>
      <dgm:spPr/>
    </dgm:pt>
    <dgm:pt modelId="{77439B57-FAA3-4CA3-AE1E-5E41F9C3654E}" type="pres">
      <dgm:prSet presAssocID="{89E3A63D-61F6-4377-8EBA-FB0645AF8483}" presName="thickLine" presStyleLbl="alignNode1" presStyleIdx="0" presStyleCnt="3"/>
      <dgm:spPr/>
    </dgm:pt>
    <dgm:pt modelId="{C74E8CD7-232A-4B76-88CA-CC4B3506A293}" type="pres">
      <dgm:prSet presAssocID="{89E3A63D-61F6-4377-8EBA-FB0645AF8483}" presName="horz1" presStyleCnt="0"/>
      <dgm:spPr/>
    </dgm:pt>
    <dgm:pt modelId="{EBEB32F2-F6E7-499E-8E52-A015FF681E7A}" type="pres">
      <dgm:prSet presAssocID="{89E3A63D-61F6-4377-8EBA-FB0645AF8483}" presName="tx1" presStyleLbl="revTx" presStyleIdx="0" presStyleCnt="3"/>
      <dgm:spPr/>
    </dgm:pt>
    <dgm:pt modelId="{AA8D81B3-68A6-4DF9-9687-3D1EA513C21A}" type="pres">
      <dgm:prSet presAssocID="{89E3A63D-61F6-4377-8EBA-FB0645AF8483}" presName="vert1" presStyleCnt="0"/>
      <dgm:spPr/>
    </dgm:pt>
    <dgm:pt modelId="{08801991-7A76-4E71-BCEC-834D66DA73BA}" type="pres">
      <dgm:prSet presAssocID="{45207E8D-972E-4DAF-9210-102790837D4E}" presName="thickLine" presStyleLbl="alignNode1" presStyleIdx="1" presStyleCnt="3"/>
      <dgm:spPr/>
    </dgm:pt>
    <dgm:pt modelId="{0F8F0D84-CA73-4832-B80A-97AD8CB8EBF6}" type="pres">
      <dgm:prSet presAssocID="{45207E8D-972E-4DAF-9210-102790837D4E}" presName="horz1" presStyleCnt="0"/>
      <dgm:spPr/>
    </dgm:pt>
    <dgm:pt modelId="{F37BB67D-EEA8-4559-A19F-552D0520FDFA}" type="pres">
      <dgm:prSet presAssocID="{45207E8D-972E-4DAF-9210-102790837D4E}" presName="tx1" presStyleLbl="revTx" presStyleIdx="1" presStyleCnt="3"/>
      <dgm:spPr/>
    </dgm:pt>
    <dgm:pt modelId="{F6B5F2A6-966C-4514-9671-6D9524AD7D49}" type="pres">
      <dgm:prSet presAssocID="{45207E8D-972E-4DAF-9210-102790837D4E}" presName="vert1" presStyleCnt="0"/>
      <dgm:spPr/>
    </dgm:pt>
    <dgm:pt modelId="{182DE1CE-F689-459B-A4DE-943243A914DC}" type="pres">
      <dgm:prSet presAssocID="{EF65267D-ED4A-45D7-A8B7-1CACB4796913}" presName="thickLine" presStyleLbl="alignNode1" presStyleIdx="2" presStyleCnt="3"/>
      <dgm:spPr/>
    </dgm:pt>
    <dgm:pt modelId="{B0FA2F6E-BA53-4752-A03A-11AF47EF1F24}" type="pres">
      <dgm:prSet presAssocID="{EF65267D-ED4A-45D7-A8B7-1CACB4796913}" presName="horz1" presStyleCnt="0"/>
      <dgm:spPr/>
    </dgm:pt>
    <dgm:pt modelId="{BF0CBBF9-1DCE-4C3E-9A9C-35834631C305}" type="pres">
      <dgm:prSet presAssocID="{EF65267D-ED4A-45D7-A8B7-1CACB4796913}" presName="tx1" presStyleLbl="revTx" presStyleIdx="2" presStyleCnt="3"/>
      <dgm:spPr/>
    </dgm:pt>
    <dgm:pt modelId="{65991D44-856D-4A00-B378-5CCE0644741F}" type="pres">
      <dgm:prSet presAssocID="{EF65267D-ED4A-45D7-A8B7-1CACB4796913}" presName="vert1" presStyleCnt="0"/>
      <dgm:spPr/>
    </dgm:pt>
  </dgm:ptLst>
  <dgm:cxnLst>
    <dgm:cxn modelId="{75EDB020-E5F6-416F-BE1D-313275CF04DE}" srcId="{7082FF66-4DBB-483F-A3ED-AA760A39C7B2}" destId="{45207E8D-972E-4DAF-9210-102790837D4E}" srcOrd="1" destOrd="0" parTransId="{D347AEF5-57E3-46E0-ACD7-BD440D7A2C4D}" sibTransId="{3C860305-686C-4450-ACD4-0C8020DEBDF1}"/>
    <dgm:cxn modelId="{575A5664-0C17-4DF1-90E0-8A15E0475A7F}" type="presOf" srcId="{7082FF66-4DBB-483F-A3ED-AA760A39C7B2}" destId="{906489D9-58FF-4819-A55B-FE672C7BE995}" srcOrd="0" destOrd="0" presId="urn:microsoft.com/office/officeart/2008/layout/LinedList"/>
    <dgm:cxn modelId="{C35E8A71-F9D0-47B6-AACC-626986034A12}" srcId="{7082FF66-4DBB-483F-A3ED-AA760A39C7B2}" destId="{89E3A63D-61F6-4377-8EBA-FB0645AF8483}" srcOrd="0" destOrd="0" parTransId="{274BCC8D-2437-4DBA-8900-ECF37CE6804D}" sibTransId="{80A8BF3D-E918-4C07-B45F-DA6C8EDAF0D2}"/>
    <dgm:cxn modelId="{F1D2E1E3-307A-440B-999F-97DD1E647FA5}" type="presOf" srcId="{EF65267D-ED4A-45D7-A8B7-1CACB4796913}" destId="{BF0CBBF9-1DCE-4C3E-9A9C-35834631C305}" srcOrd="0" destOrd="0" presId="urn:microsoft.com/office/officeart/2008/layout/LinedList"/>
    <dgm:cxn modelId="{4104A8F6-AD2C-4867-97AB-2640A62E72B2}" srcId="{7082FF66-4DBB-483F-A3ED-AA760A39C7B2}" destId="{EF65267D-ED4A-45D7-A8B7-1CACB4796913}" srcOrd="2" destOrd="0" parTransId="{6EFD2867-158B-46B5-8EEE-32BB1AE0C6A5}" sibTransId="{B74A7F17-2B9A-465C-B998-25C5F62C18E7}"/>
    <dgm:cxn modelId="{459713F7-1034-42E1-833D-8729F575BDC6}" type="presOf" srcId="{45207E8D-972E-4DAF-9210-102790837D4E}" destId="{F37BB67D-EEA8-4559-A19F-552D0520FDFA}" srcOrd="0" destOrd="0" presId="urn:microsoft.com/office/officeart/2008/layout/LinedList"/>
    <dgm:cxn modelId="{42C0E5F8-6486-4029-BA11-64AF2E8E3B76}" type="presOf" srcId="{89E3A63D-61F6-4377-8EBA-FB0645AF8483}" destId="{EBEB32F2-F6E7-499E-8E52-A015FF681E7A}" srcOrd="0" destOrd="0" presId="urn:microsoft.com/office/officeart/2008/layout/LinedList"/>
    <dgm:cxn modelId="{34D51764-0C9A-4244-834F-E01A18233C20}" type="presParOf" srcId="{906489D9-58FF-4819-A55B-FE672C7BE995}" destId="{77439B57-FAA3-4CA3-AE1E-5E41F9C3654E}" srcOrd="0" destOrd="0" presId="urn:microsoft.com/office/officeart/2008/layout/LinedList"/>
    <dgm:cxn modelId="{64162517-E88F-43DD-BF6D-8B1DCB1B9B6C}" type="presParOf" srcId="{906489D9-58FF-4819-A55B-FE672C7BE995}" destId="{C74E8CD7-232A-4B76-88CA-CC4B3506A293}" srcOrd="1" destOrd="0" presId="urn:microsoft.com/office/officeart/2008/layout/LinedList"/>
    <dgm:cxn modelId="{3BD071CC-C547-4C0A-AB4A-07338E17A52E}" type="presParOf" srcId="{C74E8CD7-232A-4B76-88CA-CC4B3506A293}" destId="{EBEB32F2-F6E7-499E-8E52-A015FF681E7A}" srcOrd="0" destOrd="0" presId="urn:microsoft.com/office/officeart/2008/layout/LinedList"/>
    <dgm:cxn modelId="{FBBC962D-09FE-4627-ADF7-00E3AAA0D9DD}" type="presParOf" srcId="{C74E8CD7-232A-4B76-88CA-CC4B3506A293}" destId="{AA8D81B3-68A6-4DF9-9687-3D1EA513C21A}" srcOrd="1" destOrd="0" presId="urn:microsoft.com/office/officeart/2008/layout/LinedList"/>
    <dgm:cxn modelId="{8B62FA11-F007-4071-A154-67092CF76D39}" type="presParOf" srcId="{906489D9-58FF-4819-A55B-FE672C7BE995}" destId="{08801991-7A76-4E71-BCEC-834D66DA73BA}" srcOrd="2" destOrd="0" presId="urn:microsoft.com/office/officeart/2008/layout/LinedList"/>
    <dgm:cxn modelId="{82926D3E-E98A-4BC7-A4F0-4E0AF7AF9A5B}" type="presParOf" srcId="{906489D9-58FF-4819-A55B-FE672C7BE995}" destId="{0F8F0D84-CA73-4832-B80A-97AD8CB8EBF6}" srcOrd="3" destOrd="0" presId="urn:microsoft.com/office/officeart/2008/layout/LinedList"/>
    <dgm:cxn modelId="{BA91FDEC-2458-4FC1-9CFE-DE7C1FB22577}" type="presParOf" srcId="{0F8F0D84-CA73-4832-B80A-97AD8CB8EBF6}" destId="{F37BB67D-EEA8-4559-A19F-552D0520FDFA}" srcOrd="0" destOrd="0" presId="urn:microsoft.com/office/officeart/2008/layout/LinedList"/>
    <dgm:cxn modelId="{9AB88B7A-D07F-479E-AC56-FC4A273940B1}" type="presParOf" srcId="{0F8F0D84-CA73-4832-B80A-97AD8CB8EBF6}" destId="{F6B5F2A6-966C-4514-9671-6D9524AD7D49}" srcOrd="1" destOrd="0" presId="urn:microsoft.com/office/officeart/2008/layout/LinedList"/>
    <dgm:cxn modelId="{F32BAD90-DC07-401E-BB2D-C1D6926CBAE8}" type="presParOf" srcId="{906489D9-58FF-4819-A55B-FE672C7BE995}" destId="{182DE1CE-F689-459B-A4DE-943243A914DC}" srcOrd="4" destOrd="0" presId="urn:microsoft.com/office/officeart/2008/layout/LinedList"/>
    <dgm:cxn modelId="{1B686C21-E462-4057-B056-7E12D6E67BFB}" type="presParOf" srcId="{906489D9-58FF-4819-A55B-FE672C7BE995}" destId="{B0FA2F6E-BA53-4752-A03A-11AF47EF1F24}" srcOrd="5" destOrd="0" presId="urn:microsoft.com/office/officeart/2008/layout/LinedList"/>
    <dgm:cxn modelId="{C8E87679-8825-42B5-9B62-B36E3D0E2F76}" type="presParOf" srcId="{B0FA2F6E-BA53-4752-A03A-11AF47EF1F24}" destId="{BF0CBBF9-1DCE-4C3E-9A9C-35834631C305}" srcOrd="0" destOrd="0" presId="urn:microsoft.com/office/officeart/2008/layout/LinedList"/>
    <dgm:cxn modelId="{FB3B7094-3314-477F-B0D8-B4706BF9A7B8}" type="presParOf" srcId="{B0FA2F6E-BA53-4752-A03A-11AF47EF1F24}" destId="{65991D44-856D-4A00-B378-5CCE0644741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439B57-FAA3-4CA3-AE1E-5E41F9C3654E}">
      <dsp:nvSpPr>
        <dsp:cNvPr id="0" name=""/>
        <dsp:cNvSpPr/>
      </dsp:nvSpPr>
      <dsp:spPr>
        <a:xfrm>
          <a:off x="0" y="2249"/>
          <a:ext cx="5012532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BEB32F2-F6E7-499E-8E52-A015FF681E7A}">
      <dsp:nvSpPr>
        <dsp:cNvPr id="0" name=""/>
        <dsp:cNvSpPr/>
      </dsp:nvSpPr>
      <dsp:spPr>
        <a:xfrm>
          <a:off x="0" y="2249"/>
          <a:ext cx="5012532" cy="15341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baseline="0"/>
            <a:t>JSON = JavaScript Object Notation</a:t>
          </a:r>
          <a:endParaRPr lang="en-US" sz="3400" kern="1200"/>
        </a:p>
      </dsp:txBody>
      <dsp:txXfrm>
        <a:off x="0" y="2249"/>
        <a:ext cx="5012532" cy="1534142"/>
      </dsp:txXfrm>
    </dsp:sp>
    <dsp:sp modelId="{08801991-7A76-4E71-BCEC-834D66DA73BA}">
      <dsp:nvSpPr>
        <dsp:cNvPr id="0" name=""/>
        <dsp:cNvSpPr/>
      </dsp:nvSpPr>
      <dsp:spPr>
        <a:xfrm>
          <a:off x="0" y="1536391"/>
          <a:ext cx="5012532" cy="0"/>
        </a:xfrm>
        <a:prstGeom prst="line">
          <a:avLst/>
        </a:prstGeom>
        <a:gradFill rotWithShape="0">
          <a:gsLst>
            <a:gs pos="0">
              <a:schemeClr val="accent2">
                <a:hueOff val="-1671780"/>
                <a:satOff val="-6640"/>
                <a:lumOff val="4216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1671780"/>
                <a:satOff val="-6640"/>
                <a:lumOff val="4216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1671780"/>
                <a:satOff val="-6640"/>
                <a:lumOff val="4216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1671780"/>
              <a:satOff val="-6640"/>
              <a:lumOff val="4216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37BB67D-EEA8-4559-A19F-552D0520FDFA}">
      <dsp:nvSpPr>
        <dsp:cNvPr id="0" name=""/>
        <dsp:cNvSpPr/>
      </dsp:nvSpPr>
      <dsp:spPr>
        <a:xfrm>
          <a:off x="0" y="1536391"/>
          <a:ext cx="5012532" cy="15341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baseline="0"/>
            <a:t>Lightweight format for data storage and transport</a:t>
          </a:r>
          <a:endParaRPr lang="en-US" sz="3400" kern="1200"/>
        </a:p>
      </dsp:txBody>
      <dsp:txXfrm>
        <a:off x="0" y="1536391"/>
        <a:ext cx="5012532" cy="1534142"/>
      </dsp:txXfrm>
    </dsp:sp>
    <dsp:sp modelId="{182DE1CE-F689-459B-A4DE-943243A914DC}">
      <dsp:nvSpPr>
        <dsp:cNvPr id="0" name=""/>
        <dsp:cNvSpPr/>
      </dsp:nvSpPr>
      <dsp:spPr>
        <a:xfrm>
          <a:off x="0" y="3070533"/>
          <a:ext cx="5012532" cy="0"/>
        </a:xfrm>
        <a:prstGeom prst="line">
          <a:avLst/>
        </a:prstGeom>
        <a:gradFill rotWithShape="0">
          <a:gsLst>
            <a:gs pos="0">
              <a:schemeClr val="accent2">
                <a:hueOff val="-3343561"/>
                <a:satOff val="-13279"/>
                <a:lumOff val="8432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3343561"/>
                <a:satOff val="-13279"/>
                <a:lumOff val="8432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3343561"/>
                <a:satOff val="-13279"/>
                <a:lumOff val="8432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3343561"/>
              <a:satOff val="-13279"/>
              <a:lumOff val="8432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F0CBBF9-1DCE-4C3E-9A9C-35834631C305}">
      <dsp:nvSpPr>
        <dsp:cNvPr id="0" name=""/>
        <dsp:cNvSpPr/>
      </dsp:nvSpPr>
      <dsp:spPr>
        <a:xfrm>
          <a:off x="0" y="3070533"/>
          <a:ext cx="5012532" cy="15341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baseline="0"/>
            <a:t>Human-readable, easy for machines to parse</a:t>
          </a:r>
          <a:endParaRPr lang="en-US" sz="3400" kern="1200"/>
        </a:p>
      </dsp:txBody>
      <dsp:txXfrm>
        <a:off x="0" y="3070533"/>
        <a:ext cx="5012532" cy="15341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51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783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196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522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422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332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570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664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643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693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5923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898009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149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2803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0932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4864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5103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455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3938487" cy="1807305"/>
          </a:xfrm>
        </p:spPr>
        <p:txBody>
          <a:bodyPr>
            <a:normAutofit/>
          </a:bodyPr>
          <a:lstStyle/>
          <a:p>
            <a:r>
              <a:rPr lang="en-US" dirty="0"/>
              <a:t> 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286" y="2333297"/>
            <a:ext cx="5103025" cy="3843666"/>
          </a:xfrm>
        </p:spPr>
        <p:txBody>
          <a:bodyPr>
            <a:normAutofit/>
          </a:bodyPr>
          <a:lstStyle/>
          <a:p>
            <a:r>
              <a:rPr lang="en-US" sz="2000" dirty="0"/>
              <a:t>The Language of Data Exchange</a:t>
            </a:r>
          </a:p>
          <a:p>
            <a:endParaRPr lang="en-US" sz="2000" dirty="0"/>
          </a:p>
          <a:p>
            <a:r>
              <a:rPr lang="en-US" sz="2000" dirty="0"/>
              <a:t>How JSON helps apps communicate and persist data.</a:t>
            </a:r>
          </a:p>
        </p:txBody>
      </p:sp>
      <p:pic>
        <p:nvPicPr>
          <p:cNvPr id="5" name="Picture 4" descr="Mobile device with apps">
            <a:extLst>
              <a:ext uri="{FF2B5EF4-FFF2-40B4-BE49-F238E27FC236}">
                <a16:creationId xmlns:a16="http://schemas.microsoft.com/office/drawing/2014/main" id="{F1BE5E90-2108-0C61-EDC2-C8D64EDC73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930" r="31390"/>
          <a:stretch/>
        </p:blipFill>
        <p:spPr>
          <a:xfrm>
            <a:off x="4671911" y="10"/>
            <a:ext cx="4472089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bg2">
                <a:shade val="92000"/>
                <a:satMod val="170000"/>
                <a:lumMod val="96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DF02843-45E8-4403-8955-54CA98A19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4951" y="0"/>
            <a:ext cx="609904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C349214-DD18-4CC5-BBAC-F9C216BE7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951" cy="6858000"/>
          </a:xfrm>
          <a:prstGeom prst="rect">
            <a:avLst/>
          </a:prstGeom>
          <a:ln>
            <a:noFill/>
          </a:ln>
          <a:effectLst>
            <a:outerShdw blurRad="50800" dist="127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805" y="1314450"/>
            <a:ext cx="2133002" cy="3680244"/>
          </a:xfrm>
        </p:spPr>
        <p:txBody>
          <a:bodyPr>
            <a:normAutofit/>
          </a:bodyPr>
          <a:lstStyle/>
          <a:p>
            <a:pPr algn="l"/>
            <a:r>
              <a:rPr lang="en-US" sz="3800"/>
              <a:t>What is JSON?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505542F-438B-4C62-B13A-916C7F79E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00" b="77917"/>
          <a:stretch/>
        </p:blipFill>
        <p:spPr>
          <a:xfrm>
            <a:off x="0" y="0"/>
            <a:ext cx="3044951" cy="15144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54908BF-145E-4BE2-A6F0-0A4645601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032794" y="5962903"/>
            <a:ext cx="1943100" cy="892925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C10BFC-197F-2772-D5CC-6F9A3E8095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3821262"/>
              </p:ext>
            </p:extLst>
          </p:nvPr>
        </p:nvGraphicFramePr>
        <p:xfrm>
          <a:off x="3445668" y="889000"/>
          <a:ext cx="5012532" cy="4606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2585039-CDA7-4B76-B013-776F970DE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638" y="0"/>
            <a:ext cx="913036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53D942-8031-42E8-88B4-E03A710E8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FD07472-970F-49B5-8994-ADEAA3148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447800" cy="6858002"/>
          </a:xfrm>
          <a:prstGeom prst="rect">
            <a:avLst/>
          </a:prstGeom>
          <a:ln>
            <a:noFill/>
          </a:ln>
          <a:effectLst>
            <a:outerShdw blurRad="88900" dist="254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869BAE-8EC0-4D16-ACB8-F0CBFDD90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24" t="71774" r="2564"/>
          <a:stretch/>
        </p:blipFill>
        <p:spPr>
          <a:xfrm>
            <a:off x="13638" y="4822361"/>
            <a:ext cx="1433926" cy="20356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24A7AE-FFF7-4F70-9AEA-01A5DFF77B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96" t="75007" r="30510"/>
          <a:stretch/>
        </p:blipFill>
        <p:spPr>
          <a:xfrm>
            <a:off x="223391" y="5471958"/>
            <a:ext cx="667411" cy="638482"/>
          </a:xfrm>
          <a:custGeom>
            <a:avLst/>
            <a:gdLst>
              <a:gd name="connsiteX0" fmla="*/ 2051608 w 4103216"/>
              <a:gd name="connsiteY0" fmla="*/ 0 h 1714050"/>
              <a:gd name="connsiteX1" fmla="*/ 4103216 w 4103216"/>
              <a:gd name="connsiteY1" fmla="*/ 1266738 h 1714050"/>
              <a:gd name="connsiteX2" fmla="*/ 4010980 w 4103216"/>
              <a:gd name="connsiteY2" fmla="*/ 1643427 h 1714050"/>
              <a:gd name="connsiteX3" fmla="*/ 3969116 w 4103216"/>
              <a:gd name="connsiteY3" fmla="*/ 1714050 h 1714050"/>
              <a:gd name="connsiteX4" fmla="*/ 134100 w 4103216"/>
              <a:gd name="connsiteY4" fmla="*/ 1714050 h 1714050"/>
              <a:gd name="connsiteX5" fmla="*/ 92237 w 4103216"/>
              <a:gd name="connsiteY5" fmla="*/ 1643427 h 1714050"/>
              <a:gd name="connsiteX6" fmla="*/ 0 w 4103216"/>
              <a:gd name="connsiteY6" fmla="*/ 1266738 h 1714050"/>
              <a:gd name="connsiteX7" fmla="*/ 2051608 w 4103216"/>
              <a:gd name="connsiteY7" fmla="*/ 0 h 171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03216" h="1714050">
                <a:moveTo>
                  <a:pt x="2051608" y="0"/>
                </a:moveTo>
                <a:cubicBezTo>
                  <a:pt x="3184680" y="0"/>
                  <a:pt x="4103216" y="567138"/>
                  <a:pt x="4103216" y="1266738"/>
                </a:cubicBezTo>
                <a:cubicBezTo>
                  <a:pt x="4103216" y="1397913"/>
                  <a:pt x="4070924" y="1524431"/>
                  <a:pt x="4010980" y="1643427"/>
                </a:cubicBezTo>
                <a:lnTo>
                  <a:pt x="3969116" y="1714050"/>
                </a:lnTo>
                <a:lnTo>
                  <a:pt x="134100" y="1714050"/>
                </a:lnTo>
                <a:lnTo>
                  <a:pt x="92237" y="1643427"/>
                </a:lnTo>
                <a:cubicBezTo>
                  <a:pt x="32293" y="1524431"/>
                  <a:pt x="0" y="1397913"/>
                  <a:pt x="0" y="1266738"/>
                </a:cubicBezTo>
                <a:cubicBezTo>
                  <a:pt x="0" y="567138"/>
                  <a:pt x="918536" y="0"/>
                  <a:pt x="2051608" y="0"/>
                </a:cubicBez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364" y="1950440"/>
            <a:ext cx="6324835" cy="3840760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/>
              <a:t>- Key-value pairs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00"/>
              <a:t>- Types: string, number, array, object, </a:t>
            </a:r>
            <a:r>
              <a:rPr lang="en-US" sz="1700" err="1"/>
              <a:t>boolean</a:t>
            </a:r>
            <a:r>
              <a:rPr lang="en-US" sz="1700"/>
              <a:t>, null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700"/>
          </a:p>
          <a:p>
            <a:pPr marL="0" indent="0">
              <a:lnSpc>
                <a:spcPct val="110000"/>
              </a:lnSpc>
              <a:buNone/>
            </a:pPr>
            <a:r>
              <a:rPr lang="en-US" sz="1700"/>
              <a:t>Example: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00"/>
              <a:t>{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00"/>
              <a:t>  "name": "Alice",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00"/>
              <a:t>  "balance": 150.75,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00"/>
              <a:t>  "history": ["deposit", "withdraw"]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00"/>
              <a:t>}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364" y="643467"/>
            <a:ext cx="6325304" cy="1306972"/>
          </a:xfrm>
        </p:spPr>
        <p:txBody>
          <a:bodyPr>
            <a:normAutofit/>
          </a:bodyPr>
          <a:lstStyle/>
          <a:p>
            <a:r>
              <a:rPr lang="en-US" sz="3800"/>
              <a:t>JSON Structure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2585039-CDA7-4B76-B013-776F970DE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638" y="0"/>
            <a:ext cx="913036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53D942-8031-42E8-88B4-E03A710E8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FD07472-970F-49B5-8994-ADEAA3148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447800" cy="6858002"/>
          </a:xfrm>
          <a:prstGeom prst="rect">
            <a:avLst/>
          </a:prstGeom>
          <a:ln>
            <a:noFill/>
          </a:ln>
          <a:effectLst>
            <a:outerShdw blurRad="88900" dist="254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2869BAE-8EC0-4D16-ACB8-F0CBFDD90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24" t="71774" r="2564"/>
          <a:stretch/>
        </p:blipFill>
        <p:spPr>
          <a:xfrm>
            <a:off x="13638" y="4822361"/>
            <a:ext cx="1433926" cy="20356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524A7AE-FFF7-4F70-9AEA-01A5DFF77B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96" t="75007" r="30510"/>
          <a:stretch/>
        </p:blipFill>
        <p:spPr>
          <a:xfrm>
            <a:off x="223391" y="5471958"/>
            <a:ext cx="667411" cy="638482"/>
          </a:xfrm>
          <a:custGeom>
            <a:avLst/>
            <a:gdLst>
              <a:gd name="connsiteX0" fmla="*/ 2051608 w 4103216"/>
              <a:gd name="connsiteY0" fmla="*/ 0 h 1714050"/>
              <a:gd name="connsiteX1" fmla="*/ 4103216 w 4103216"/>
              <a:gd name="connsiteY1" fmla="*/ 1266738 h 1714050"/>
              <a:gd name="connsiteX2" fmla="*/ 4010980 w 4103216"/>
              <a:gd name="connsiteY2" fmla="*/ 1643427 h 1714050"/>
              <a:gd name="connsiteX3" fmla="*/ 3969116 w 4103216"/>
              <a:gd name="connsiteY3" fmla="*/ 1714050 h 1714050"/>
              <a:gd name="connsiteX4" fmla="*/ 134100 w 4103216"/>
              <a:gd name="connsiteY4" fmla="*/ 1714050 h 1714050"/>
              <a:gd name="connsiteX5" fmla="*/ 92237 w 4103216"/>
              <a:gd name="connsiteY5" fmla="*/ 1643427 h 1714050"/>
              <a:gd name="connsiteX6" fmla="*/ 0 w 4103216"/>
              <a:gd name="connsiteY6" fmla="*/ 1266738 h 1714050"/>
              <a:gd name="connsiteX7" fmla="*/ 2051608 w 4103216"/>
              <a:gd name="connsiteY7" fmla="*/ 0 h 171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03216" h="1714050">
                <a:moveTo>
                  <a:pt x="2051608" y="0"/>
                </a:moveTo>
                <a:cubicBezTo>
                  <a:pt x="3184680" y="0"/>
                  <a:pt x="4103216" y="567138"/>
                  <a:pt x="4103216" y="1266738"/>
                </a:cubicBezTo>
                <a:cubicBezTo>
                  <a:pt x="4103216" y="1397913"/>
                  <a:pt x="4070924" y="1524431"/>
                  <a:pt x="4010980" y="1643427"/>
                </a:cubicBezTo>
                <a:lnTo>
                  <a:pt x="3969116" y="1714050"/>
                </a:lnTo>
                <a:lnTo>
                  <a:pt x="134100" y="1714050"/>
                </a:lnTo>
                <a:lnTo>
                  <a:pt x="92237" y="1643427"/>
                </a:lnTo>
                <a:cubicBezTo>
                  <a:pt x="32293" y="1524431"/>
                  <a:pt x="0" y="1397913"/>
                  <a:pt x="0" y="1266738"/>
                </a:cubicBezTo>
                <a:cubicBezTo>
                  <a:pt x="0" y="567138"/>
                  <a:pt x="918536" y="0"/>
                  <a:pt x="2051608" y="0"/>
                </a:cubicBez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364" y="1950440"/>
            <a:ext cx="6324835" cy="3840760"/>
          </a:xfrm>
        </p:spPr>
        <p:txBody>
          <a:bodyPr anchor="ctr">
            <a:normAutofit/>
          </a:bodyPr>
          <a:lstStyle/>
          <a:p>
            <a:r>
              <a:t>- 🌍 Works across all programming languages</a:t>
            </a:r>
          </a:p>
          <a:p>
            <a:r>
              <a:t>- 💾 Save user data like settings or account info</a:t>
            </a:r>
          </a:p>
          <a:p>
            <a:r>
              <a:t>- ☁️ Used in APIs and data exchanges</a:t>
            </a:r>
          </a:p>
          <a:p>
            <a:r>
              <a:t>- 🔄 Easily maps to Python dicts and JS objects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364" y="643467"/>
            <a:ext cx="6325304" cy="1306972"/>
          </a:xfrm>
        </p:spPr>
        <p:txBody>
          <a:bodyPr>
            <a:normAutofit/>
          </a:bodyPr>
          <a:lstStyle/>
          <a:p>
            <a:r>
              <a:rPr lang="en-US" sz="3800"/>
              <a:t>Why Use JSON?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bg2">
                <a:shade val="92000"/>
                <a:satMod val="170000"/>
                <a:lumMod val="96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295ED52-E90A-465D-88C0-893C6EF48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2921021B-E928-4355-9554-162D5B68A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mazon tree boa coiled around branch">
            <a:extLst>
              <a:ext uri="{FF2B5EF4-FFF2-40B4-BE49-F238E27FC236}">
                <a16:creationId xmlns:a16="http://schemas.microsoft.com/office/drawing/2014/main" id="{6B93A419-B53D-F387-337C-86B0AD25F2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741" r="25544" b="-1"/>
          <a:stretch/>
        </p:blipFill>
        <p:spPr>
          <a:xfrm>
            <a:off x="20" y="10"/>
            <a:ext cx="3052896" cy="68579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C98F1ED-E15E-4A4F-A33F-1F14053F6F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8787" y="618517"/>
            <a:ext cx="5004665" cy="1596177"/>
          </a:xfrm>
        </p:spPr>
        <p:txBody>
          <a:bodyPr>
            <a:normAutofit/>
          </a:bodyPr>
          <a:lstStyle/>
          <a:p>
            <a:r>
              <a:t>JSON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8786" y="2367092"/>
            <a:ext cx="5004665" cy="3424107"/>
          </a:xfrm>
        </p:spPr>
        <p:txBody>
          <a:bodyPr>
            <a:normAutofit/>
          </a:bodyPr>
          <a:lstStyle/>
          <a:p>
            <a:r>
              <a:rPr lang="en-US" sz="1900"/>
              <a:t>import json</a:t>
            </a:r>
          </a:p>
          <a:p>
            <a:endParaRPr lang="en-US" sz="1900"/>
          </a:p>
          <a:p>
            <a:r>
              <a:rPr lang="en-US" sz="1900"/>
              <a:t># Convert Python dict to JSON string</a:t>
            </a:r>
          </a:p>
          <a:p>
            <a:r>
              <a:rPr lang="en-US" sz="1900"/>
              <a:t>json_str = json.dumps(data)</a:t>
            </a:r>
          </a:p>
          <a:p>
            <a:endParaRPr lang="en-US" sz="1900"/>
          </a:p>
          <a:p>
            <a:r>
              <a:rPr lang="en-US" sz="1900"/>
              <a:t># Convert JSON string back to Python</a:t>
            </a:r>
          </a:p>
          <a:p>
            <a:r>
              <a:rPr lang="en-US" sz="1900"/>
              <a:t>parsed = json.loads(json_str)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971C7DD-6CA4-4C72-AB0A-8DE10B613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055679" y="0"/>
            <a:ext cx="0" cy="6858000"/>
          </a:xfrm>
          <a:prstGeom prst="line">
            <a:avLst/>
          </a:prstGeom>
          <a:ln w="82550" cap="sq">
            <a:solidFill>
              <a:srgbClr val="D9D9D9"/>
            </a:solidFill>
            <a:miter lim="800000"/>
          </a:ln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BFBFBF"/>
            </a:contourClr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6F4DB63-A191-45D9-8A53-9B18F8FE2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0BB8E50-9569-495A-A548-A5AD50553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6F26545-4582-4DBE-973B-ED1BC9CBD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891"/>
            <a:ext cx="9141714" cy="2286002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88900" dist="25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47A6981-7EBF-4F2B-BD20-3124170BF8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037" b="73004"/>
          <a:stretch/>
        </p:blipFill>
        <p:spPr>
          <a:xfrm>
            <a:off x="57957" y="-1"/>
            <a:ext cx="954016" cy="8411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497DCFF-C2AA-4065-BFCF-1E7535B0D8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24" t="86960" r="29150"/>
          <a:stretch/>
        </p:blipFill>
        <p:spPr>
          <a:xfrm>
            <a:off x="8296316" y="-1"/>
            <a:ext cx="845398" cy="55396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5E1159C-5B31-49A8-A933-C1179723C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959" t="72411" r="-74" b="13790"/>
          <a:stretch/>
        </p:blipFill>
        <p:spPr>
          <a:xfrm>
            <a:off x="57957" y="1444827"/>
            <a:ext cx="822228" cy="841175"/>
          </a:xfrm>
          <a:custGeom>
            <a:avLst/>
            <a:gdLst>
              <a:gd name="connsiteX0" fmla="*/ 0 w 915864"/>
              <a:gd name="connsiteY0" fmla="*/ 0 h 702727"/>
              <a:gd name="connsiteX1" fmla="*/ 915864 w 915864"/>
              <a:gd name="connsiteY1" fmla="*/ 0 h 702727"/>
              <a:gd name="connsiteX2" fmla="*/ 915864 w 915864"/>
              <a:gd name="connsiteY2" fmla="*/ 702727 h 702727"/>
              <a:gd name="connsiteX3" fmla="*/ 176126 w 915864"/>
              <a:gd name="connsiteY3" fmla="*/ 702727 h 702727"/>
              <a:gd name="connsiteX4" fmla="*/ 175195 w 915864"/>
              <a:gd name="connsiteY4" fmla="*/ 702179 h 702727"/>
              <a:gd name="connsiteX5" fmla="*/ 45222 w 915864"/>
              <a:gd name="connsiteY5" fmla="*/ 592499 h 702727"/>
              <a:gd name="connsiteX6" fmla="*/ 0 w 915864"/>
              <a:gd name="connsiteY6" fmla="*/ 531614 h 702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5864" h="702727">
                <a:moveTo>
                  <a:pt x="0" y="0"/>
                </a:moveTo>
                <a:lnTo>
                  <a:pt x="915864" y="0"/>
                </a:lnTo>
                <a:lnTo>
                  <a:pt x="915864" y="702727"/>
                </a:lnTo>
                <a:lnTo>
                  <a:pt x="176126" y="702727"/>
                </a:lnTo>
                <a:lnTo>
                  <a:pt x="175195" y="702179"/>
                </a:lnTo>
                <a:cubicBezTo>
                  <a:pt x="126139" y="669596"/>
                  <a:pt x="82453" y="632772"/>
                  <a:pt x="45222" y="592499"/>
                </a:cubicBezTo>
                <a:lnTo>
                  <a:pt x="0" y="531614"/>
                </a:lnTo>
                <a:close/>
              </a:path>
            </a:pathLst>
          </a:cu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A9BD01A-0D38-48EA-98E5-BB66386F3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24" t="71774" r="2564"/>
          <a:stretch/>
        </p:blipFill>
        <p:spPr>
          <a:xfrm>
            <a:off x="8277514" y="1071807"/>
            <a:ext cx="866486" cy="12300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39924"/>
            <a:ext cx="7773338" cy="1437937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Saving and Loading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0" y="2705878"/>
            <a:ext cx="7772870" cy="3085322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900"/>
              <a:t># Save to file</a:t>
            </a:r>
          </a:p>
          <a:p>
            <a:pPr>
              <a:lnSpc>
                <a:spcPct val="110000"/>
              </a:lnSpc>
            </a:pPr>
            <a:r>
              <a:rPr lang="en-US" sz="1900"/>
              <a:t>with open("file.json", "w") as f:</a:t>
            </a:r>
          </a:p>
          <a:p>
            <a:pPr>
              <a:lnSpc>
                <a:spcPct val="110000"/>
              </a:lnSpc>
            </a:pPr>
            <a:r>
              <a:rPr lang="en-US" sz="1900"/>
              <a:t>    json.dump(data, f)</a:t>
            </a:r>
          </a:p>
          <a:p>
            <a:pPr>
              <a:lnSpc>
                <a:spcPct val="110000"/>
              </a:lnSpc>
            </a:pPr>
            <a:endParaRPr lang="en-US" sz="1900"/>
          </a:p>
          <a:p>
            <a:pPr>
              <a:lnSpc>
                <a:spcPct val="110000"/>
              </a:lnSpc>
            </a:pPr>
            <a:r>
              <a:rPr lang="en-US" sz="1900"/>
              <a:t># Load from file</a:t>
            </a:r>
          </a:p>
          <a:p>
            <a:pPr>
              <a:lnSpc>
                <a:spcPct val="110000"/>
              </a:lnSpc>
            </a:pPr>
            <a:r>
              <a:rPr lang="en-US" sz="1900"/>
              <a:t>with open("file.json") as f:</a:t>
            </a:r>
          </a:p>
          <a:p>
            <a:pPr>
              <a:lnSpc>
                <a:spcPct val="110000"/>
              </a:lnSpc>
            </a:pPr>
            <a:r>
              <a:rPr lang="en-US" sz="1900"/>
              <a:t>    data = json.load(f)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bg2">
                <a:shade val="92000"/>
                <a:satMod val="170000"/>
                <a:lumMod val="96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295ED52-E90A-465D-88C0-893C6EF48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2921021B-E928-4355-9554-162D5B68A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digital map">
            <a:extLst>
              <a:ext uri="{FF2B5EF4-FFF2-40B4-BE49-F238E27FC236}">
                <a16:creationId xmlns:a16="http://schemas.microsoft.com/office/drawing/2014/main" id="{6DC4A9D3-CB17-12DC-86BD-DECD82F088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239" r="24046" b="-1"/>
          <a:stretch/>
        </p:blipFill>
        <p:spPr>
          <a:xfrm>
            <a:off x="20" y="10"/>
            <a:ext cx="3052896" cy="68579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C98F1ED-E15E-4A4F-A33F-1F14053F6F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8787" y="618517"/>
            <a:ext cx="5004665" cy="1596177"/>
          </a:xfrm>
        </p:spPr>
        <p:txBody>
          <a:bodyPr>
            <a:normAutofit/>
          </a:bodyPr>
          <a:lstStyle/>
          <a:p>
            <a:r>
              <a:t>Real-World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25000" y="2510530"/>
            <a:ext cx="5007428" cy="35765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- In the Bank Account GUI:</a:t>
            </a:r>
          </a:p>
          <a:p>
            <a:pPr marL="0" indent="0">
              <a:buNone/>
            </a:pPr>
            <a:r>
              <a:rPr dirty="0"/>
              <a:t>  - Save all users and their transactions</a:t>
            </a:r>
          </a:p>
          <a:p>
            <a:pPr marL="0" indent="0">
              <a:buNone/>
            </a:pPr>
            <a:r>
              <a:rPr dirty="0"/>
              <a:t>  - Load them when the app starts</a:t>
            </a:r>
          </a:p>
          <a:p>
            <a:pPr marL="0" indent="0">
              <a:buNone/>
            </a:pPr>
            <a:r>
              <a:rPr dirty="0"/>
              <a:t>  - Mimics real software behavior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971C7DD-6CA4-4C72-AB0A-8DE10B613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055679" y="0"/>
            <a:ext cx="0" cy="6858000"/>
          </a:xfrm>
          <a:prstGeom prst="line">
            <a:avLst/>
          </a:prstGeom>
          <a:ln w="82550" cap="sq">
            <a:solidFill>
              <a:srgbClr val="D9D9D9"/>
            </a:solidFill>
            <a:miter lim="800000"/>
          </a:ln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BFBFBF"/>
            </a:contourClr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3FEA489-1EA0-424C-97B8-08CD755AF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874DF7-8796-4B48-9F01-D080C2E7B8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dirty="0"/>
              <a:t>S</a:t>
            </a: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F7FCF0A-437A-4E03-80EC-4F0D39919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1964266"/>
          </a:xfrm>
          <a:prstGeom prst="rect">
            <a:avLst/>
          </a:prstGeom>
          <a:ln>
            <a:noFill/>
          </a:ln>
          <a:effectLst>
            <a:outerShdw blurRad="76200" dist="25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57EAC40-E194-4BA7-A0FC-83528638F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358"/>
          <a:stretch/>
        </p:blipFill>
        <p:spPr>
          <a:xfrm>
            <a:off x="0" y="0"/>
            <a:ext cx="9144000" cy="196426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18518"/>
            <a:ext cx="7773338" cy="1024016"/>
          </a:xfrm>
        </p:spPr>
        <p:txBody>
          <a:bodyPr>
            <a:normAutofit/>
          </a:bodyPr>
          <a:lstStyle/>
          <a:p>
            <a:pPr algn="l"/>
            <a:r>
              <a:rPr lang="en-US" sz="3500"/>
              <a:t>Summary &amp; Key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0" y="2286000"/>
            <a:ext cx="5894675" cy="3505199"/>
          </a:xfrm>
        </p:spPr>
        <p:txBody>
          <a:bodyPr anchor="ctr">
            <a:normAutofit/>
          </a:bodyPr>
          <a:lstStyle/>
          <a:p>
            <a:r>
              <a:t>- JSON = portable, structured, readable</a:t>
            </a:r>
          </a:p>
          <a:p>
            <a:r>
              <a:t>- Ideal for storage, transmission, and backups</a:t>
            </a:r>
          </a:p>
          <a:p>
            <a:r>
              <a:t>- Powers modern web and software apps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27537E"/>
      </a:dk2>
      <a:lt2>
        <a:srgbClr val="AABED7"/>
      </a:lt2>
      <a:accent1>
        <a:srgbClr val="E34B7A"/>
      </a:accent1>
      <a:accent2>
        <a:srgbClr val="AC339A"/>
      </a:accent2>
      <a:accent3>
        <a:srgbClr val="6953B7"/>
      </a:accent3>
      <a:accent4>
        <a:srgbClr val="1D7EAB"/>
      </a:accent4>
      <a:accent5>
        <a:srgbClr val="43AFD6"/>
      </a:accent5>
      <a:accent6>
        <a:srgbClr val="DE85E1"/>
      </a:accent6>
      <a:hlink>
        <a:srgbClr val="ED87A6"/>
      </a:hlink>
      <a:folHlink>
        <a:srgbClr val="C99EAC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9</TotalTime>
  <Words>277</Words>
  <Application>Microsoft Office PowerPoint</Application>
  <PresentationFormat>On-screen Show (4:3)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Tw Cen MT</vt:lpstr>
      <vt:lpstr>Droplet</vt:lpstr>
      <vt:lpstr> JSON</vt:lpstr>
      <vt:lpstr>What is JSON?</vt:lpstr>
      <vt:lpstr>JSON Structure</vt:lpstr>
      <vt:lpstr>Why Use JSON?</vt:lpstr>
      <vt:lpstr>JSON in Python</vt:lpstr>
      <vt:lpstr>Saving and Loading Files</vt:lpstr>
      <vt:lpstr>Real-World Use Case</vt:lpstr>
      <vt:lpstr>Summary &amp; Key Terms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Frank Mora</dc:creator>
  <cp:keywords/>
  <dc:description>generated using python-pptx</dc:description>
  <cp:lastModifiedBy>Frank Mora</cp:lastModifiedBy>
  <cp:revision>2</cp:revision>
  <dcterms:created xsi:type="dcterms:W3CDTF">2013-01-27T09:14:16Z</dcterms:created>
  <dcterms:modified xsi:type="dcterms:W3CDTF">2025-04-24T03:42:57Z</dcterms:modified>
  <cp:category/>
</cp:coreProperties>
</file>