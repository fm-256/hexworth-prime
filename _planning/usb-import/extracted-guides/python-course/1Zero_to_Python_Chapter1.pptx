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0" r:id="rId10"/>
    <p:sldId id="278" r:id="rId11"/>
    <p:sldId id="279" r:id="rId12"/>
    <p:sldId id="282" r:id="rId13"/>
    <p:sldId id="281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2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72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0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3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7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3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3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1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5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4851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65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62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6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54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9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11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7AB370-8ED6-5BC9-C2A6-48EF3474A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20" r="2" b="2"/>
          <a:stretch/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1936866"/>
            <a:ext cx="3636783" cy="2839273"/>
          </a:xfrm>
        </p:spPr>
        <p:txBody>
          <a:bodyPr>
            <a:normAutofit/>
          </a:bodyPr>
          <a:lstStyle/>
          <a:p>
            <a:pPr algn="l"/>
            <a:r>
              <a:rPr lang="en-US" sz="3100">
                <a:solidFill>
                  <a:srgbClr val="FFFFFF"/>
                </a:solidFill>
              </a:rPr>
              <a:t>Zero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4873600"/>
            <a:ext cx="3636783" cy="1183602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Chapter 1: The First Bit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Slither Smoothly from Beginner to Pro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582C-1DD5-3479-A77F-C2D1C7F4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Python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8950B-2F23-3E83-25B0-27078398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2483231"/>
            <a:ext cx="6711654" cy="4195481"/>
          </a:xfrm>
        </p:spPr>
        <p:txBody>
          <a:bodyPr/>
          <a:lstStyle/>
          <a:p>
            <a:r>
              <a:rPr lang="en-US" dirty="0"/>
              <a:t>One of the most popular and beginner-friendly programming languages in the world.</a:t>
            </a:r>
          </a:p>
          <a:p>
            <a:pPr>
              <a:lnSpc>
                <a:spcPct val="150000"/>
              </a:lnSpc>
            </a:pPr>
            <a:r>
              <a:rPr lang="en-US" dirty="0"/>
              <a:t>It's used in everything from web development</a:t>
            </a:r>
          </a:p>
          <a:p>
            <a:r>
              <a:rPr lang="en-US" dirty="0"/>
              <a:t>Data science </a:t>
            </a:r>
          </a:p>
          <a:p>
            <a:r>
              <a:rPr lang="en-US" dirty="0"/>
              <a:t>AI</a:t>
            </a:r>
          </a:p>
          <a:p>
            <a:r>
              <a:rPr lang="en-US" dirty="0"/>
              <a:t>Automation</a:t>
            </a:r>
          </a:p>
          <a:p>
            <a:r>
              <a:rPr lang="en-US" dirty="0"/>
              <a:t>Game development</a:t>
            </a:r>
          </a:p>
        </p:txBody>
      </p:sp>
    </p:spTree>
    <p:extLst>
      <p:ext uri="{BB962C8B-B14F-4D97-AF65-F5344CB8AC3E}">
        <p14:creationId xmlns:p14="http://schemas.microsoft.com/office/powerpoint/2010/main" val="74800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64BD-4D30-5678-09E3-C9EF64FA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5E4D5-D5CF-8674-92F4-ECFCE992B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618" y="2725279"/>
            <a:ext cx="6711654" cy="4195481"/>
          </a:xfrm>
        </p:spPr>
        <p:txBody>
          <a:bodyPr/>
          <a:lstStyle/>
          <a:p>
            <a:r>
              <a:rPr lang="en-US" dirty="0"/>
              <a:t>An online Python editor (like </a:t>
            </a:r>
            <a:r>
              <a:rPr lang="en-US" dirty="0" err="1"/>
              <a:t>Replit</a:t>
            </a:r>
            <a:r>
              <a:rPr lang="en-US" dirty="0"/>
              <a:t>, Trinket, or Google </a:t>
            </a:r>
            <a:r>
              <a:rPr lang="en-US" dirty="0" err="1"/>
              <a:t>Colab</a:t>
            </a:r>
            <a:r>
              <a:rPr lang="en-US" dirty="0"/>
              <a:t>)</a:t>
            </a:r>
          </a:p>
          <a:p>
            <a:r>
              <a:rPr lang="en-US" dirty="0"/>
              <a:t>A local IDE (like </a:t>
            </a:r>
            <a:r>
              <a:rPr lang="en-US" dirty="0" err="1"/>
              <a:t>VSCode</a:t>
            </a:r>
            <a:r>
              <a:rPr lang="en-US" dirty="0"/>
              <a:t> or PyCharm)</a:t>
            </a:r>
          </a:p>
          <a:p>
            <a:pPr>
              <a:lnSpc>
                <a:spcPct val="150000"/>
              </a:lnSpc>
            </a:pPr>
            <a:r>
              <a:rPr lang="en-US" dirty="0"/>
              <a:t>The terminal using `python filename.py</a:t>
            </a:r>
          </a:p>
        </p:txBody>
      </p:sp>
    </p:spTree>
    <p:extLst>
      <p:ext uri="{BB962C8B-B14F-4D97-AF65-F5344CB8AC3E}">
        <p14:creationId xmlns:p14="http://schemas.microsoft.com/office/powerpoint/2010/main" val="2231283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B1E8-3017-37F9-E628-D44F0C4E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First Program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53934-08C3-A5BA-B232-BEC18C6E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992612"/>
            <a:ext cx="8154935" cy="4195481"/>
          </a:xfrm>
        </p:spPr>
        <p:txBody>
          <a:bodyPr/>
          <a:lstStyle/>
          <a:p>
            <a:r>
              <a:rPr lang="en-US" sz="2800" dirty="0"/>
              <a:t>Let's write your first line of Python code:</a:t>
            </a:r>
          </a:p>
          <a:p>
            <a:endParaRPr lang="en-US" sz="2800" dirty="0"/>
          </a:p>
          <a:p>
            <a:r>
              <a:rPr lang="en-US" sz="2800" dirty="0"/>
              <a:t>print("Hello, World!")</a:t>
            </a:r>
          </a:p>
          <a:p>
            <a:pPr marL="0" indent="0">
              <a:buNone/>
            </a:pPr>
            <a:r>
              <a:rPr lang="en-US" dirty="0"/>
              <a:t>When you run it, you'll see:</a:t>
            </a:r>
          </a:p>
          <a:p>
            <a:pPr marL="0" indent="0">
              <a:buNone/>
            </a:pPr>
            <a:r>
              <a:rPr lang="en-US" dirty="0"/>
              <a:t>Hello, World!</a:t>
            </a:r>
          </a:p>
          <a:p>
            <a:pPr marL="0" indent="0">
              <a:buNone/>
            </a:pPr>
            <a:r>
              <a:rPr lang="en-US" dirty="0"/>
              <a:t>This simple line uses the built-in `print()` function to display text.</a:t>
            </a:r>
          </a:p>
        </p:txBody>
      </p:sp>
    </p:spTree>
    <p:extLst>
      <p:ext uri="{BB962C8B-B14F-4D97-AF65-F5344CB8AC3E}">
        <p14:creationId xmlns:p14="http://schemas.microsoft.com/office/powerpoint/2010/main" val="390894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EB031-8DF2-3863-68A8-A09A57E5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452718"/>
            <a:ext cx="8471031" cy="1400530"/>
          </a:xfrm>
        </p:spPr>
        <p:txBody>
          <a:bodyPr/>
          <a:lstStyle/>
          <a:p>
            <a:pPr algn="ctr"/>
            <a:r>
              <a:rPr lang="en-US" dirty="0"/>
              <a:t>Try It Yourself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0AE36-4748-B026-52B9-372902121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Change the message or print something else:</a:t>
            </a:r>
          </a:p>
          <a:p>
            <a:endParaRPr lang="en-US" dirty="0"/>
          </a:p>
          <a:p>
            <a:r>
              <a:rPr lang="en-US" dirty="0"/>
              <a:t>print("Hello, Python!")</a:t>
            </a:r>
          </a:p>
          <a:p>
            <a:r>
              <a:rPr lang="en-US" dirty="0"/>
              <a:t>print(42)</a:t>
            </a:r>
          </a:p>
          <a:p>
            <a:r>
              <a:rPr lang="en-US" dirty="0"/>
              <a:t>print("My name is Ada")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72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C024-C563-E868-2A35-969F50FA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Just Happened?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A30E3-FBA3-E4B8-B425-AF8712D01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ran real Python code.</a:t>
            </a:r>
          </a:p>
          <a:p>
            <a:r>
              <a:rPr lang="en-US" dirty="0"/>
              <a:t>You used a function: print()</a:t>
            </a:r>
          </a:p>
          <a:p>
            <a:pPr>
              <a:lnSpc>
                <a:spcPct val="200000"/>
              </a:lnSpc>
            </a:pPr>
            <a:r>
              <a:rPr lang="en-US" dirty="0"/>
              <a:t>You printed a string: text surrounded by quotes</a:t>
            </a:r>
          </a:p>
          <a:p>
            <a:pPr>
              <a:lnSpc>
                <a:spcPct val="150000"/>
              </a:lnSpc>
            </a:pPr>
            <a:r>
              <a:rPr lang="en-US" dirty="0"/>
              <a:t>You're officially a Python programmer now!</a:t>
            </a:r>
          </a:p>
        </p:txBody>
      </p:sp>
    </p:spTree>
    <p:extLst>
      <p:ext uri="{BB962C8B-B14F-4D97-AF65-F5344CB8AC3E}">
        <p14:creationId xmlns:p14="http://schemas.microsoft.com/office/powerpoint/2010/main" val="214453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8B6F-D096-2E84-BEE6-A5EF3814B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Quick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49E5D-18F5-6F62-8CAF-2DD6C39B5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/>
              <a:t>Catch your breath</a:t>
            </a:r>
          </a:p>
          <a:p>
            <a:pPr>
              <a:lnSpc>
                <a:spcPct val="250000"/>
              </a:lnSpc>
            </a:pPr>
            <a:r>
              <a:rPr lang="en-US" dirty="0"/>
              <a:t>Stand and stretch</a:t>
            </a:r>
          </a:p>
          <a:p>
            <a:pPr>
              <a:lnSpc>
                <a:spcPct val="250000"/>
              </a:lnSpc>
            </a:pPr>
            <a:r>
              <a:rPr lang="en-US" dirty="0"/>
              <a:t>Avoid a blood clot</a:t>
            </a:r>
          </a:p>
          <a:p>
            <a:pPr>
              <a:lnSpc>
                <a:spcPct val="250000"/>
              </a:lnSpc>
            </a:pP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3787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53AE-35C6-1961-73BF-1C2F6519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Data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01537-788B-B4CA-73FB-AC51A18A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35" y="3182478"/>
            <a:ext cx="8538883" cy="4195481"/>
          </a:xfrm>
        </p:spPr>
        <p:txBody>
          <a:bodyPr/>
          <a:lstStyle/>
          <a:p>
            <a:r>
              <a:rPr lang="en-US" sz="2400"/>
              <a:t>A classification that determines the kind of data a variable can hold and what operations can be performed on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8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04D4-C13A-2D83-E435-AE1C7EC6B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Purpose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C170C-844D-5DC7-9000-1FEDC6AF8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>
            <a:normAutofit/>
          </a:bodyPr>
          <a:lstStyle/>
          <a:p>
            <a:r>
              <a:rPr lang="en-US"/>
              <a:t>Data types help the computer understand and manage different kinds of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55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1C36-4A07-728A-76DC-A3E7AEA14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6"/>
            <a:ext cx="6939116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/>
              <a:t>Importance</a:t>
            </a:r>
            <a:br>
              <a:rPr lang="en-US" sz="3900"/>
            </a:br>
            <a:endParaRPr lang="en-US" sz="3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7DE5-853B-349E-7BF5-35C9C2DA4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44" y="2052214"/>
            <a:ext cx="8388715" cy="4196185"/>
          </a:xfrm>
        </p:spPr>
        <p:txBody>
          <a:bodyPr>
            <a:normAutofit/>
          </a:bodyPr>
          <a:lstStyle/>
          <a:p>
            <a:r>
              <a:rPr lang="en-US" dirty="0"/>
              <a:t>Using the correct data type ensures that operations are performed correctly and efficiently, preventing errors and ensuring data integrity</a:t>
            </a:r>
          </a:p>
        </p:txBody>
      </p: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8A333C21-DB69-7CA5-8971-2A3BF8151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1106" y="3827087"/>
            <a:ext cx="1826550" cy="18265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223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C5977-F1B0-E396-3C59-09D6C9CE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8" y="629266"/>
            <a:ext cx="3124882" cy="1622321"/>
          </a:xfrm>
        </p:spPr>
        <p:txBody>
          <a:bodyPr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EBEBEB"/>
                </a:solidFill>
              </a:rPr>
              <a:t>Primitive </a:t>
            </a:r>
            <a:br>
              <a:rPr lang="en-US" sz="3600" dirty="0">
                <a:solidFill>
                  <a:srgbClr val="EBEBEB"/>
                </a:solidFill>
              </a:rPr>
            </a:br>
            <a:r>
              <a:rPr lang="en-US" sz="3600" dirty="0">
                <a:solidFill>
                  <a:srgbClr val="EBEBEB"/>
                </a:solidFill>
              </a:rPr>
              <a:t>vs.</a:t>
            </a:r>
            <a:br>
              <a:rPr lang="en-US" sz="3600" dirty="0">
                <a:solidFill>
                  <a:srgbClr val="EBEBEB"/>
                </a:solidFill>
              </a:rPr>
            </a:br>
            <a:r>
              <a:rPr lang="en-US" sz="3600" dirty="0">
                <a:solidFill>
                  <a:srgbClr val="EBEBEB"/>
                </a:solidFill>
              </a:rPr>
              <a:t> Non-primitive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805A-3F34-A300-E14D-973F59EDD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5" y="2438400"/>
            <a:ext cx="4165433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Some languages distinguish between primitive (basic) data types like integers and floats, and non-primitive data types (built from primitives) like arrays or objects</a:t>
            </a:r>
          </a:p>
        </p:txBody>
      </p:sp>
      <p:pic>
        <p:nvPicPr>
          <p:cNvPr id="8" name="Picture 7" descr="A diagram of data structure&#10;&#10;AI-generated content may be incorrect.">
            <a:extLst>
              <a:ext uri="{FF2B5EF4-FFF2-40B4-BE49-F238E27FC236}">
                <a16:creationId xmlns:a16="http://schemas.microsoft.com/office/drawing/2014/main" id="{96FA38F3-314F-197D-25A6-2F6307786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055" y="2318953"/>
            <a:ext cx="5445446" cy="336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90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5D22-FBD5-BEB3-C3BF-D231CF83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471" y="629266"/>
            <a:ext cx="2830918" cy="1641986"/>
          </a:xfrm>
        </p:spPr>
        <p:txBody>
          <a:bodyPr>
            <a:normAutofit/>
          </a:bodyPr>
          <a:lstStyle/>
          <a:p>
            <a:r>
              <a:rPr lang="en-US" dirty="0"/>
              <a:t>Questions</a:t>
            </a:r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92D3743E-45CE-4B3E-C11D-96D3AD710B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70" r="26403" b="1"/>
          <a:stretch/>
        </p:blipFill>
        <p:spPr>
          <a:xfrm>
            <a:off x="-1" y="10"/>
            <a:ext cx="4570804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A8F2-4D08-EEB1-6C7B-57D5A9137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81" y="2438400"/>
            <a:ext cx="2480808" cy="38099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135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2F04-1BAC-4B23-6F79-99ABA41C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668AD-C9BF-E5B4-2A33-B1C2AFCA1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36" y="3599337"/>
            <a:ext cx="6711654" cy="419548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Let's break them down</a:t>
            </a:r>
          </a:p>
        </p:txBody>
      </p:sp>
    </p:spTree>
    <p:extLst>
      <p:ext uri="{BB962C8B-B14F-4D97-AF65-F5344CB8AC3E}">
        <p14:creationId xmlns:p14="http://schemas.microsoft.com/office/powerpoint/2010/main" val="412930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</a:t>
            </a:r>
            <a:r>
              <a:rPr dirty="0"/>
              <a:t>nt</a:t>
            </a:r>
            <a:r>
              <a:rPr lang="en-US" dirty="0"/>
              <a:t>: What is it?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Represents whole numbers (positive, negative, or zero).</a:t>
            </a:r>
          </a:p>
          <a:p>
            <a:endParaRPr dirty="0"/>
          </a:p>
          <a:p>
            <a:r>
              <a:rPr dirty="0"/>
              <a:t>Use Case:</a:t>
            </a:r>
          </a:p>
          <a:p>
            <a:r>
              <a:rPr dirty="0"/>
              <a:t>Used to count things like age, quantity, or score.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age = 25</a:t>
            </a:r>
          </a:p>
          <a:p>
            <a:r>
              <a:rPr dirty="0"/>
              <a:t>items = 4</a:t>
            </a:r>
          </a:p>
          <a:p>
            <a:r>
              <a:rPr dirty="0"/>
              <a:t>print(age * items)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0E6F2D31-203B-3489-1A97-78500E5122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15000"/>
          </a:blip>
          <a:srcRect l="6757" r="4577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pPr algn="ctr"/>
            <a:r>
              <a:rPr dirty="0"/>
              <a:t>float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FE742-1A27-4AEF-B5F0-F8C383EAB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584" y="1613648"/>
            <a:ext cx="8174834" cy="4634752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What is it?</a:t>
            </a:r>
          </a:p>
          <a:p>
            <a:pPr>
              <a:lnSpc>
                <a:spcPct val="90000"/>
              </a:lnSpc>
            </a:pPr>
            <a:r>
              <a:rPr lang="en-US" dirty="0"/>
              <a:t>Represents decimal numbers for precise values.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Use Case:</a:t>
            </a:r>
          </a:p>
          <a:p>
            <a:pPr>
              <a:lnSpc>
                <a:spcPct val="90000"/>
              </a:lnSpc>
            </a:pPr>
            <a:r>
              <a:rPr lang="en-US" dirty="0"/>
              <a:t>Used for prices, measurements, and scientific calculations.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Example:</a:t>
            </a:r>
          </a:p>
          <a:p>
            <a:pPr>
              <a:lnSpc>
                <a:spcPct val="90000"/>
              </a:lnSpc>
            </a:pPr>
            <a:r>
              <a:rPr lang="en-US" dirty="0"/>
              <a:t>price = 19.99</a:t>
            </a:r>
          </a:p>
          <a:p>
            <a:pPr>
              <a:lnSpc>
                <a:spcPct val="90000"/>
              </a:lnSpc>
            </a:pPr>
            <a:r>
              <a:rPr lang="en-US" dirty="0"/>
              <a:t>quantity = 3</a:t>
            </a:r>
          </a:p>
          <a:p>
            <a:pPr>
              <a:lnSpc>
                <a:spcPct val="90000"/>
              </a:lnSpc>
            </a:pPr>
            <a:r>
              <a:rPr lang="en-US" dirty="0"/>
              <a:t>total = price * quantity</a:t>
            </a:r>
          </a:p>
          <a:p>
            <a:pPr>
              <a:lnSpc>
                <a:spcPct val="90000"/>
              </a:lnSpc>
            </a:pPr>
            <a:r>
              <a:rPr lang="en-US" dirty="0"/>
              <a:t>print(total)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What is it?</a:t>
            </a:r>
          </a:p>
          <a:p>
            <a:r>
              <a:t>Holds numbers with real and imaginary parts.</a:t>
            </a:r>
          </a:p>
          <a:p>
            <a:endParaRPr/>
          </a:p>
          <a:p>
            <a:r>
              <a:t>Use Case:</a:t>
            </a:r>
          </a:p>
          <a:p>
            <a:r>
              <a:t>Used in electrical engineering, physics, or complex math.</a:t>
            </a:r>
          </a:p>
          <a:p>
            <a:endParaRPr/>
          </a:p>
          <a:p>
            <a:r>
              <a:t>Example:</a:t>
            </a:r>
          </a:p>
          <a:p>
            <a:r>
              <a:t>z = 3 + 4j</a:t>
            </a:r>
          </a:p>
          <a:p>
            <a:r>
              <a:t>print(z.real)</a:t>
            </a:r>
          </a:p>
          <a:p>
            <a:r>
              <a:t>print(z.imag)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A string of characters enclosed in quotes.</a:t>
            </a:r>
          </a:p>
          <a:p>
            <a:endParaRPr/>
          </a:p>
          <a:p>
            <a:r>
              <a:t>Use Case:</a:t>
            </a:r>
          </a:p>
          <a:p>
            <a:r>
              <a:t>Used for names, messages, input, and all text-related data.</a:t>
            </a:r>
          </a:p>
          <a:p>
            <a:endParaRPr/>
          </a:p>
          <a:p>
            <a:r>
              <a:t>Example:</a:t>
            </a:r>
          </a:p>
          <a:p>
            <a:r>
              <a:t>name = "Alice"</a:t>
            </a:r>
          </a:p>
          <a:p>
            <a:r>
              <a:t>print("Hello, " + name)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What is it?</a:t>
            </a:r>
          </a:p>
          <a:p>
            <a:r>
              <a:t>Holds one of two values: True or False.</a:t>
            </a:r>
          </a:p>
          <a:p>
            <a:endParaRPr/>
          </a:p>
          <a:p>
            <a:r>
              <a:t>Use Case:</a:t>
            </a:r>
          </a:p>
          <a:p>
            <a:r>
              <a:t>Used in logic for conditionals like 'is active' or 'is valid'.</a:t>
            </a:r>
          </a:p>
          <a:p>
            <a:endParaRPr/>
          </a:p>
          <a:p>
            <a:r>
              <a:t>Example:</a:t>
            </a:r>
          </a:p>
          <a:p>
            <a:r>
              <a:t>is_logged_in = True</a:t>
            </a:r>
          </a:p>
          <a:p>
            <a:r>
              <a:t>if is_logged_in:</a:t>
            </a:r>
          </a:p>
          <a:p>
            <a:r>
              <a:t>    print("Welcome back!")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What is it?</a:t>
            </a:r>
          </a:p>
          <a:p>
            <a:r>
              <a:t>An ordered, changeable collection of items.</a:t>
            </a:r>
          </a:p>
          <a:p>
            <a:endParaRPr/>
          </a:p>
          <a:p>
            <a:r>
              <a:t>Use Case:</a:t>
            </a:r>
          </a:p>
          <a:p>
            <a:r>
              <a:t>Used for things like to-do lists, shopping carts, and results.</a:t>
            </a:r>
          </a:p>
          <a:p>
            <a:endParaRPr/>
          </a:p>
          <a:p>
            <a:r>
              <a:t>Example:</a:t>
            </a:r>
          </a:p>
          <a:p>
            <a:r>
              <a:t>fruits = ["apple", "banana"]</a:t>
            </a:r>
          </a:p>
          <a:p>
            <a:r>
              <a:t>fruits.append("cherry")</a:t>
            </a:r>
          </a:p>
          <a:p>
            <a:r>
              <a:t>print(fruits)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An ordered, unchangeable collection.</a:t>
            </a:r>
          </a:p>
          <a:p>
            <a:endParaRPr/>
          </a:p>
          <a:p>
            <a:r>
              <a:t>Use Case:</a:t>
            </a:r>
          </a:p>
          <a:p>
            <a:r>
              <a:t>Used for fixed data like coordinates or configuration pairs.</a:t>
            </a:r>
          </a:p>
          <a:p>
            <a:endParaRPr/>
          </a:p>
          <a:p>
            <a:r>
              <a:t>Example:</a:t>
            </a:r>
          </a:p>
          <a:p>
            <a:r>
              <a:t>location = (40.7128, -74.0060)</a:t>
            </a:r>
          </a:p>
          <a:p>
            <a:r>
              <a:t>print(location[0])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What is it?</a:t>
            </a:r>
          </a:p>
          <a:p>
            <a:r>
              <a:t>Represents a sequence of numbers, often in loops.</a:t>
            </a:r>
          </a:p>
          <a:p>
            <a:endParaRPr/>
          </a:p>
          <a:p>
            <a:r>
              <a:t>Use Case:</a:t>
            </a:r>
          </a:p>
          <a:p>
            <a:r>
              <a:t>Used for generating indices or repeating code a set number of times.</a:t>
            </a:r>
          </a:p>
          <a:p>
            <a:endParaRPr/>
          </a:p>
          <a:p>
            <a:r>
              <a:t>Example:</a:t>
            </a:r>
          </a:p>
          <a:p>
            <a:r>
              <a:t>for i in range(5):</a:t>
            </a:r>
          </a:p>
          <a:p>
            <a:r>
              <a:t>    print(i)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Stores data as key-value pairs.</a:t>
            </a:r>
          </a:p>
          <a:p>
            <a:endParaRPr/>
          </a:p>
          <a:p>
            <a:r>
              <a:t>Use Case:</a:t>
            </a:r>
          </a:p>
          <a:p>
            <a:r>
              <a:t>Used for user profiles, configurations, or labeled data.</a:t>
            </a:r>
          </a:p>
          <a:p>
            <a:endParaRPr/>
          </a:p>
          <a:p>
            <a:r>
              <a:t>Example:</a:t>
            </a:r>
          </a:p>
          <a:p>
            <a:r>
              <a:t>user = {"name": "Alice", "age": 30}</a:t>
            </a:r>
          </a:p>
          <a:p>
            <a:r>
              <a:t>print(user["name"])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Unordered collection of unique elements.</a:t>
            </a:r>
          </a:p>
          <a:p>
            <a:endParaRPr/>
          </a:p>
          <a:p>
            <a:r>
              <a:t>Use Case:</a:t>
            </a:r>
          </a:p>
          <a:p>
            <a:r>
              <a:t>Used to remove duplicates or quickly check membership.</a:t>
            </a:r>
          </a:p>
          <a:p>
            <a:endParaRPr/>
          </a:p>
          <a:p>
            <a:r>
              <a:t>Example:</a:t>
            </a:r>
          </a:p>
          <a:p>
            <a:r>
              <a:t>emails = {"a@example.com", "b@example.com"}</a:t>
            </a:r>
          </a:p>
          <a:p>
            <a:r>
              <a:t>print(len(emails))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frozenset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Immutable version of a set.</a:t>
            </a:r>
          </a:p>
          <a:p>
            <a:endParaRPr/>
          </a:p>
          <a:p>
            <a:r>
              <a:t>Use Case:</a:t>
            </a:r>
          </a:p>
          <a:p>
            <a:r>
              <a:t>Used when a constant, unchangeable set of unique items is needed.</a:t>
            </a:r>
          </a:p>
          <a:p>
            <a:endParaRPr/>
          </a:p>
          <a:p>
            <a:r>
              <a:t>Example:</a:t>
            </a:r>
          </a:p>
          <a:p>
            <a:r>
              <a:t>constants = frozenset([3.14, 2.718])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Immutable sequence of raw binary data.</a:t>
            </a:r>
          </a:p>
          <a:p>
            <a:endParaRPr/>
          </a:p>
          <a:p>
            <a:r>
              <a:t>Use Case:</a:t>
            </a:r>
          </a:p>
          <a:p>
            <a:r>
              <a:t>Used in file storage, network transmission, or media data.</a:t>
            </a:r>
          </a:p>
          <a:p>
            <a:endParaRPr/>
          </a:p>
          <a:p>
            <a:r>
              <a:t>Example:</a:t>
            </a:r>
          </a:p>
          <a:p>
            <a:r>
              <a:t>data = bytes(5)</a:t>
            </a:r>
          </a:p>
          <a:p>
            <a:r>
              <a:t>print(data)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What is it?</a:t>
            </a:r>
          </a:p>
          <a:p>
            <a:r>
              <a:t>Mutable version of bytes.</a:t>
            </a:r>
          </a:p>
          <a:p>
            <a:endParaRPr/>
          </a:p>
          <a:p>
            <a:r>
              <a:t>Use Case:</a:t>
            </a:r>
          </a:p>
          <a:p>
            <a:r>
              <a:t>Used when binary data needs to be altered before use.</a:t>
            </a:r>
          </a:p>
          <a:p>
            <a:endParaRPr/>
          </a:p>
          <a:p>
            <a:r>
              <a:t>Example:</a:t>
            </a:r>
          </a:p>
          <a:p>
            <a:r>
              <a:t>data = bytearray(5)</a:t>
            </a:r>
          </a:p>
          <a:p>
            <a:r>
              <a:t>data[0] = 255</a:t>
            </a:r>
          </a:p>
          <a:p>
            <a:r>
              <a:t>print(data)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What is it?</a:t>
            </a:r>
          </a:p>
          <a:p>
            <a:r>
              <a:t>Allows efficient access to parts of byte objects.</a:t>
            </a:r>
          </a:p>
          <a:p>
            <a:endParaRPr/>
          </a:p>
          <a:p>
            <a:r>
              <a:t>Use Case:</a:t>
            </a:r>
          </a:p>
          <a:p>
            <a:r>
              <a:t>Used in performance-critical applications dealing with large buffers.</a:t>
            </a:r>
          </a:p>
          <a:p>
            <a:endParaRPr/>
          </a:p>
          <a:p>
            <a:r>
              <a:t>Example:</a:t>
            </a:r>
          </a:p>
          <a:p>
            <a:r>
              <a:t>b = bytearray(b"hello")</a:t>
            </a:r>
          </a:p>
          <a:p>
            <a:r>
              <a:t>mv = memoryview(b)</a:t>
            </a:r>
          </a:p>
          <a:p>
            <a:r>
              <a:t>print(mv[0])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40096-0898-A0CC-BA8E-D6DA73C5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009" y="1447800"/>
            <a:ext cx="3916743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61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101769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61473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6915A056-F9EE-0629-138D-E1DBF5A749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430" y="2441986"/>
            <a:ext cx="2202627" cy="22026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45512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</TotalTime>
  <Words>926</Words>
  <Application>Microsoft Office PowerPoint</Application>
  <PresentationFormat>On-screen Show (4:3)</PresentationFormat>
  <Paragraphs>196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Century Gothic</vt:lpstr>
      <vt:lpstr>Wingdings 3</vt:lpstr>
      <vt:lpstr>Ion</vt:lpstr>
      <vt:lpstr>Zero to Python</vt:lpstr>
      <vt:lpstr> Python </vt:lpstr>
      <vt:lpstr>Running Code </vt:lpstr>
      <vt:lpstr>Your First Program </vt:lpstr>
      <vt:lpstr>Try It Yourself </vt:lpstr>
      <vt:lpstr>What Just Happened? </vt:lpstr>
      <vt:lpstr>Quick Recap</vt:lpstr>
      <vt:lpstr>Data Types</vt:lpstr>
      <vt:lpstr>Purpose </vt:lpstr>
      <vt:lpstr>Importance </vt:lpstr>
      <vt:lpstr>Primitive  vs.  Non-primitive</vt:lpstr>
      <vt:lpstr>Questions</vt:lpstr>
      <vt:lpstr>Data Types</vt:lpstr>
      <vt:lpstr>Int: What is it? </vt:lpstr>
      <vt:lpstr>float</vt:lpstr>
      <vt:lpstr>complex</vt:lpstr>
      <vt:lpstr>str</vt:lpstr>
      <vt:lpstr>bool</vt:lpstr>
      <vt:lpstr>list</vt:lpstr>
      <vt:lpstr>tuple</vt:lpstr>
      <vt:lpstr>range</vt:lpstr>
      <vt:lpstr>dict</vt:lpstr>
      <vt:lpstr>set</vt:lpstr>
      <vt:lpstr>frozenset</vt:lpstr>
      <vt:lpstr>bytes</vt:lpstr>
      <vt:lpstr>bytearray</vt:lpstr>
      <vt:lpstr>memoryview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2025-04-07T23:15:47Z</dcterms:modified>
  <cp:category/>
</cp:coreProperties>
</file>