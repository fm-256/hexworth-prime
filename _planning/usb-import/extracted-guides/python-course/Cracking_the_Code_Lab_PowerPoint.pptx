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10B348-5556-4B7F-9596-362BA3CE3543}" type="doc">
      <dgm:prSet loTypeId="urn:microsoft.com/office/officeart/2005/8/layout/process4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7025400-BF1A-4A29-89D7-92DDBB5691C5}">
      <dgm:prSet/>
      <dgm:spPr/>
      <dgm:t>
        <a:bodyPr/>
        <a:lstStyle/>
        <a:p>
          <a:r>
            <a:rPr lang="en-US"/>
            <a:t>Topic: Exploring combinations, brute-force logic, and probability using Python.</a:t>
          </a:r>
        </a:p>
      </dgm:t>
    </dgm:pt>
    <dgm:pt modelId="{3249C14B-73C7-4928-AB68-12A7796AFCAF}" type="parTrans" cxnId="{74CA13D6-BF5E-4DD0-AB33-142C2E65D6CA}">
      <dgm:prSet/>
      <dgm:spPr/>
      <dgm:t>
        <a:bodyPr/>
        <a:lstStyle/>
        <a:p>
          <a:endParaRPr lang="en-US"/>
        </a:p>
      </dgm:t>
    </dgm:pt>
    <dgm:pt modelId="{578464E4-CF42-4F89-A287-CFEAD3561744}" type="sibTrans" cxnId="{74CA13D6-BF5E-4DD0-AB33-142C2E65D6CA}">
      <dgm:prSet/>
      <dgm:spPr/>
      <dgm:t>
        <a:bodyPr/>
        <a:lstStyle/>
        <a:p>
          <a:endParaRPr lang="en-US"/>
        </a:p>
      </dgm:t>
    </dgm:pt>
    <dgm:pt modelId="{3F1A2A57-6D54-45CC-B2E5-E10EFEB348D1}">
      <dgm:prSet/>
      <dgm:spPr/>
      <dgm:t>
        <a:bodyPr/>
        <a:lstStyle/>
        <a:p>
          <a:r>
            <a:rPr lang="en-US"/>
            <a:t>Goals: Understand how systems are guessed or simulated.</a:t>
          </a:r>
        </a:p>
      </dgm:t>
    </dgm:pt>
    <dgm:pt modelId="{8ABE28C7-9426-45C8-A006-49C9BD4B04C6}" type="parTrans" cxnId="{A8D60466-3367-4E69-A287-695FA1E943ED}">
      <dgm:prSet/>
      <dgm:spPr/>
      <dgm:t>
        <a:bodyPr/>
        <a:lstStyle/>
        <a:p>
          <a:endParaRPr lang="en-US"/>
        </a:p>
      </dgm:t>
    </dgm:pt>
    <dgm:pt modelId="{617C19EC-CAA2-4EF4-95F6-B4E6F369C24E}" type="sibTrans" cxnId="{A8D60466-3367-4E69-A287-695FA1E943ED}">
      <dgm:prSet/>
      <dgm:spPr/>
      <dgm:t>
        <a:bodyPr/>
        <a:lstStyle/>
        <a:p>
          <a:endParaRPr lang="en-US"/>
        </a:p>
      </dgm:t>
    </dgm:pt>
    <dgm:pt modelId="{4AD04966-5D94-4BFF-B1BD-A7F07E4E5EAC}">
      <dgm:prSet/>
      <dgm:spPr/>
      <dgm:t>
        <a:bodyPr/>
        <a:lstStyle/>
        <a:p>
          <a:r>
            <a:rPr lang="en-US"/>
            <a:t>Tools: itertools, random, tkinter GUI, probability math.</a:t>
          </a:r>
        </a:p>
      </dgm:t>
    </dgm:pt>
    <dgm:pt modelId="{99042B3E-E89A-4C3B-8CC1-C4EE9C8BA52E}" type="parTrans" cxnId="{51FC3CB7-7624-4F97-ADC9-5DE65F29D621}">
      <dgm:prSet/>
      <dgm:spPr/>
      <dgm:t>
        <a:bodyPr/>
        <a:lstStyle/>
        <a:p>
          <a:endParaRPr lang="en-US"/>
        </a:p>
      </dgm:t>
    </dgm:pt>
    <dgm:pt modelId="{B07EB4C9-3636-489A-83AC-9D8B38CD679F}" type="sibTrans" cxnId="{51FC3CB7-7624-4F97-ADC9-5DE65F29D621}">
      <dgm:prSet/>
      <dgm:spPr/>
      <dgm:t>
        <a:bodyPr/>
        <a:lstStyle/>
        <a:p>
          <a:endParaRPr lang="en-US"/>
        </a:p>
      </dgm:t>
    </dgm:pt>
    <dgm:pt modelId="{52C2B412-10C2-4FAD-9F64-11B7C2961D32}" type="pres">
      <dgm:prSet presAssocID="{4810B348-5556-4B7F-9596-362BA3CE3543}" presName="Name0" presStyleCnt="0">
        <dgm:presLayoutVars>
          <dgm:dir/>
          <dgm:animLvl val="lvl"/>
          <dgm:resizeHandles val="exact"/>
        </dgm:presLayoutVars>
      </dgm:prSet>
      <dgm:spPr/>
    </dgm:pt>
    <dgm:pt modelId="{B7BF7B6A-18BA-4DA7-AA46-9390865DDA52}" type="pres">
      <dgm:prSet presAssocID="{4AD04966-5D94-4BFF-B1BD-A7F07E4E5EAC}" presName="boxAndChildren" presStyleCnt="0"/>
      <dgm:spPr/>
    </dgm:pt>
    <dgm:pt modelId="{5BF5DCA5-9950-4DD6-91CB-F327503ACC9F}" type="pres">
      <dgm:prSet presAssocID="{4AD04966-5D94-4BFF-B1BD-A7F07E4E5EAC}" presName="parentTextBox" presStyleLbl="node1" presStyleIdx="0" presStyleCnt="3"/>
      <dgm:spPr/>
    </dgm:pt>
    <dgm:pt modelId="{64B5871F-11B7-4F68-8456-09EF0F223AEC}" type="pres">
      <dgm:prSet presAssocID="{617C19EC-CAA2-4EF4-95F6-B4E6F369C24E}" presName="sp" presStyleCnt="0"/>
      <dgm:spPr/>
    </dgm:pt>
    <dgm:pt modelId="{DEC623C0-EDBE-4842-8B79-E62E7BD1EC55}" type="pres">
      <dgm:prSet presAssocID="{3F1A2A57-6D54-45CC-B2E5-E10EFEB348D1}" presName="arrowAndChildren" presStyleCnt="0"/>
      <dgm:spPr/>
    </dgm:pt>
    <dgm:pt modelId="{71776CDC-CC01-43C1-99ED-DD14266D5777}" type="pres">
      <dgm:prSet presAssocID="{3F1A2A57-6D54-45CC-B2E5-E10EFEB348D1}" presName="parentTextArrow" presStyleLbl="node1" presStyleIdx="1" presStyleCnt="3"/>
      <dgm:spPr/>
    </dgm:pt>
    <dgm:pt modelId="{F937000C-2990-40C9-A7FE-36EFE7B17131}" type="pres">
      <dgm:prSet presAssocID="{578464E4-CF42-4F89-A287-CFEAD3561744}" presName="sp" presStyleCnt="0"/>
      <dgm:spPr/>
    </dgm:pt>
    <dgm:pt modelId="{70CA015F-9604-436A-9093-B442324F9365}" type="pres">
      <dgm:prSet presAssocID="{B7025400-BF1A-4A29-89D7-92DDBB5691C5}" presName="arrowAndChildren" presStyleCnt="0"/>
      <dgm:spPr/>
    </dgm:pt>
    <dgm:pt modelId="{E81C169B-4D60-466B-AE95-FA89031D7C1E}" type="pres">
      <dgm:prSet presAssocID="{B7025400-BF1A-4A29-89D7-92DDBB5691C5}" presName="parentTextArrow" presStyleLbl="node1" presStyleIdx="2" presStyleCnt="3"/>
      <dgm:spPr/>
    </dgm:pt>
  </dgm:ptLst>
  <dgm:cxnLst>
    <dgm:cxn modelId="{A8D60466-3367-4E69-A287-695FA1E943ED}" srcId="{4810B348-5556-4B7F-9596-362BA3CE3543}" destId="{3F1A2A57-6D54-45CC-B2E5-E10EFEB348D1}" srcOrd="1" destOrd="0" parTransId="{8ABE28C7-9426-45C8-A006-49C9BD4B04C6}" sibTransId="{617C19EC-CAA2-4EF4-95F6-B4E6F369C24E}"/>
    <dgm:cxn modelId="{6ED93280-74FF-4306-9716-2E3106E1063B}" type="presOf" srcId="{4AD04966-5D94-4BFF-B1BD-A7F07E4E5EAC}" destId="{5BF5DCA5-9950-4DD6-91CB-F327503ACC9F}" srcOrd="0" destOrd="0" presId="urn:microsoft.com/office/officeart/2005/8/layout/process4"/>
    <dgm:cxn modelId="{4F90B190-A302-4E9B-8B79-56925CE22D8D}" type="presOf" srcId="{3F1A2A57-6D54-45CC-B2E5-E10EFEB348D1}" destId="{71776CDC-CC01-43C1-99ED-DD14266D5777}" srcOrd="0" destOrd="0" presId="urn:microsoft.com/office/officeart/2005/8/layout/process4"/>
    <dgm:cxn modelId="{10561FA5-3308-4C8D-A622-4DA2A251F833}" type="presOf" srcId="{B7025400-BF1A-4A29-89D7-92DDBB5691C5}" destId="{E81C169B-4D60-466B-AE95-FA89031D7C1E}" srcOrd="0" destOrd="0" presId="urn:microsoft.com/office/officeart/2005/8/layout/process4"/>
    <dgm:cxn modelId="{1CF822B6-0FF4-48B8-B65D-EC236623ED98}" type="presOf" srcId="{4810B348-5556-4B7F-9596-362BA3CE3543}" destId="{52C2B412-10C2-4FAD-9F64-11B7C2961D32}" srcOrd="0" destOrd="0" presId="urn:microsoft.com/office/officeart/2005/8/layout/process4"/>
    <dgm:cxn modelId="{51FC3CB7-7624-4F97-ADC9-5DE65F29D621}" srcId="{4810B348-5556-4B7F-9596-362BA3CE3543}" destId="{4AD04966-5D94-4BFF-B1BD-A7F07E4E5EAC}" srcOrd="2" destOrd="0" parTransId="{99042B3E-E89A-4C3B-8CC1-C4EE9C8BA52E}" sibTransId="{B07EB4C9-3636-489A-83AC-9D8B38CD679F}"/>
    <dgm:cxn modelId="{74CA13D6-BF5E-4DD0-AB33-142C2E65D6CA}" srcId="{4810B348-5556-4B7F-9596-362BA3CE3543}" destId="{B7025400-BF1A-4A29-89D7-92DDBB5691C5}" srcOrd="0" destOrd="0" parTransId="{3249C14B-73C7-4928-AB68-12A7796AFCAF}" sibTransId="{578464E4-CF42-4F89-A287-CFEAD3561744}"/>
    <dgm:cxn modelId="{C2EF92D6-1671-4194-B187-A2177E73CAF7}" type="presParOf" srcId="{52C2B412-10C2-4FAD-9F64-11B7C2961D32}" destId="{B7BF7B6A-18BA-4DA7-AA46-9390865DDA52}" srcOrd="0" destOrd="0" presId="urn:microsoft.com/office/officeart/2005/8/layout/process4"/>
    <dgm:cxn modelId="{5FDC87AC-DDEC-4782-8113-3230DEA3D6B0}" type="presParOf" srcId="{B7BF7B6A-18BA-4DA7-AA46-9390865DDA52}" destId="{5BF5DCA5-9950-4DD6-91CB-F327503ACC9F}" srcOrd="0" destOrd="0" presId="urn:microsoft.com/office/officeart/2005/8/layout/process4"/>
    <dgm:cxn modelId="{D947ABC1-A54F-4ADF-9519-716FFFF15162}" type="presParOf" srcId="{52C2B412-10C2-4FAD-9F64-11B7C2961D32}" destId="{64B5871F-11B7-4F68-8456-09EF0F223AEC}" srcOrd="1" destOrd="0" presId="urn:microsoft.com/office/officeart/2005/8/layout/process4"/>
    <dgm:cxn modelId="{04F80296-91BA-4368-B16D-5EBA42E8A21B}" type="presParOf" srcId="{52C2B412-10C2-4FAD-9F64-11B7C2961D32}" destId="{DEC623C0-EDBE-4842-8B79-E62E7BD1EC55}" srcOrd="2" destOrd="0" presId="urn:microsoft.com/office/officeart/2005/8/layout/process4"/>
    <dgm:cxn modelId="{C254B674-015A-46C9-A097-3D6CACD7424A}" type="presParOf" srcId="{DEC623C0-EDBE-4842-8B79-E62E7BD1EC55}" destId="{71776CDC-CC01-43C1-99ED-DD14266D5777}" srcOrd="0" destOrd="0" presId="urn:microsoft.com/office/officeart/2005/8/layout/process4"/>
    <dgm:cxn modelId="{6A0D58FB-AB16-48EB-8D40-D354B87CFD2D}" type="presParOf" srcId="{52C2B412-10C2-4FAD-9F64-11B7C2961D32}" destId="{F937000C-2990-40C9-A7FE-36EFE7B17131}" srcOrd="3" destOrd="0" presId="urn:microsoft.com/office/officeart/2005/8/layout/process4"/>
    <dgm:cxn modelId="{4E6D757D-4FE0-4BB6-AA57-DEAC8E39CC66}" type="presParOf" srcId="{52C2B412-10C2-4FAD-9F64-11B7C2961D32}" destId="{70CA015F-9604-436A-9093-B442324F9365}" srcOrd="4" destOrd="0" presId="urn:microsoft.com/office/officeart/2005/8/layout/process4"/>
    <dgm:cxn modelId="{8F2DC9E0-712B-4C78-954F-A7B0918DA0C3}" type="presParOf" srcId="{70CA015F-9604-436A-9093-B442324F9365}" destId="{E81C169B-4D60-466B-AE95-FA89031D7C1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5DCA5-9950-4DD6-91CB-F327503ACC9F}">
      <dsp:nvSpPr>
        <dsp:cNvPr id="0" name=""/>
        <dsp:cNvSpPr/>
      </dsp:nvSpPr>
      <dsp:spPr>
        <a:xfrm>
          <a:off x="0" y="3648568"/>
          <a:ext cx="4319742" cy="11975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Tools: itertools, random, tkinter GUI, probability math.</a:t>
          </a:r>
        </a:p>
      </dsp:txBody>
      <dsp:txXfrm>
        <a:off x="0" y="3648568"/>
        <a:ext cx="4319742" cy="1197541"/>
      </dsp:txXfrm>
    </dsp:sp>
    <dsp:sp modelId="{71776CDC-CC01-43C1-99ED-DD14266D5777}">
      <dsp:nvSpPr>
        <dsp:cNvPr id="0" name=""/>
        <dsp:cNvSpPr/>
      </dsp:nvSpPr>
      <dsp:spPr>
        <a:xfrm rot="10800000">
          <a:off x="0" y="1824712"/>
          <a:ext cx="4319742" cy="1841819"/>
        </a:xfrm>
        <a:prstGeom prst="upArrowCallout">
          <a:avLst/>
        </a:prstGeom>
        <a:solidFill>
          <a:schemeClr val="accent2">
            <a:hueOff val="1799994"/>
            <a:satOff val="-925"/>
            <a:lumOff val="-23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Goals: Understand how systems are guessed or simulated.</a:t>
          </a:r>
        </a:p>
      </dsp:txBody>
      <dsp:txXfrm rot="10800000">
        <a:off x="0" y="1824712"/>
        <a:ext cx="4319742" cy="1196759"/>
      </dsp:txXfrm>
    </dsp:sp>
    <dsp:sp modelId="{E81C169B-4D60-466B-AE95-FA89031D7C1E}">
      <dsp:nvSpPr>
        <dsp:cNvPr id="0" name=""/>
        <dsp:cNvSpPr/>
      </dsp:nvSpPr>
      <dsp:spPr>
        <a:xfrm rot="10800000">
          <a:off x="0" y="856"/>
          <a:ext cx="4319742" cy="1841819"/>
        </a:xfrm>
        <a:prstGeom prst="upArrowCallout">
          <a:avLst/>
        </a:prstGeom>
        <a:solidFill>
          <a:schemeClr val="accent2">
            <a:hueOff val="3599988"/>
            <a:satOff val="-1850"/>
            <a:lumOff val="-4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Topic: Exploring combinations, brute-force logic, and probability using Python.</a:t>
          </a:r>
        </a:p>
      </dsp:txBody>
      <dsp:txXfrm rot="10800000">
        <a:off x="0" y="856"/>
        <a:ext cx="4319742" cy="11967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176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51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21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76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1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9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8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8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9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64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2468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93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70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05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72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277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4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44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0A9C49B-76D8-4E9B-B430-D1ADF40F1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8A5712-2FE0-4DD4-BDC6-099EA378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984964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448E5503-E0F8-4B94-81A3-B1FA57623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047" y="0"/>
            <a:ext cx="8829967" cy="6419514"/>
          </a:xfrm>
          <a:custGeom>
            <a:avLst/>
            <a:gdLst/>
            <a:ahLst/>
            <a:cxnLst/>
            <a:rect l="l" t="t" r="r" b="b"/>
            <a:pathLst>
              <a:path w="11773291" h="6419514">
                <a:moveTo>
                  <a:pt x="11750059" y="0"/>
                </a:moveTo>
                <a:lnTo>
                  <a:pt x="11773291" y="6419514"/>
                </a:lnTo>
                <a:lnTo>
                  <a:pt x="0" y="641104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54F896-85E7-4403-9E37-1B004731F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90722" cy="6380796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2536460" cy="4846967"/>
          </a:xfrm>
        </p:spPr>
        <p:txBody>
          <a:bodyPr>
            <a:normAutofit/>
          </a:bodyPr>
          <a:lstStyle/>
          <a:p>
            <a:r>
              <a:rPr lang="en-US" sz="4200">
                <a:solidFill>
                  <a:srgbClr val="FFFFFF"/>
                </a:solidFill>
              </a:rPr>
              <a:t>Cracking the Code Lab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A32126-C62D-8F9E-4F0E-9579F0FD9A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098041"/>
              </p:ext>
            </p:extLst>
          </p:nvPr>
        </p:nvGraphicFramePr>
        <p:xfrm>
          <a:off x="3970581" y="685800"/>
          <a:ext cx="4319742" cy="484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Brute-Force?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Brute-force = trying every possible combination until one works.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Used for PINs, passwords, lock codes, and simulation tasks.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Growth is exponential with longer lengths and bigger character 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Set Sizes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Digits only (0–9): 10 characters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Lowercase letters: 26 characters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Letters + digits: 36 characters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Letters + digits + symbols: ~70+ characters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Combinatorics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4-digit PIN → 10⁴ = 10,000 combos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4-char lowercase → 26⁴ = 456,976 combos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6-char full charset → ~70⁶ = 117 billion combos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The more characters and length, the harder to crack!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Lottery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Choose 6 numbers from 1–49 (no repeats).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Combinations: C(49, 6) = 13,983,816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Probability of guessing all 6 correctly: 1 in 13.9 million!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Random sampling helps simulate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itertools.product → Generate brute-force combinations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random.sample → Lottery draw (no repeats)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tkinter GUI → User-friendly simulations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string module → Easy access to digits, letters, symbols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1. Use the lottery GUI to simulate multiple draws.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2. Run brute-force on a 4-digit PIN.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3. Expand brute-force to include letters/symbols.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4. Analyze probability.txt and answer challenge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How long to brute-force a 6-digit PIN?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What charset gives the most protection?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How could you make a password uncrackable?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How do your odds change with extra length?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4</TotalTime>
  <Words>305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Impact</vt:lpstr>
      <vt:lpstr>Main Event</vt:lpstr>
      <vt:lpstr>Cracking the Code Lab</vt:lpstr>
      <vt:lpstr>What is Brute-Force?</vt:lpstr>
      <vt:lpstr>Character Set Sizes</vt:lpstr>
      <vt:lpstr>Combinatorics in Action</vt:lpstr>
      <vt:lpstr>Lottery Simulation</vt:lpstr>
      <vt:lpstr>Python Tools Used</vt:lpstr>
      <vt:lpstr>Lab Activities</vt:lpstr>
      <vt:lpstr>Challenge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2025-04-17T04:24:26Z</dcterms:modified>
  <cp:category/>
</cp:coreProperties>
</file>